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fld id="{60E8C3AD-8BDF-42EC-9676-4CEA33AB3A6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894527-3ECB-4285-A829-9DE7BE0847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33FB4D-04E8-4A5E-9D16-57C0B1480B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AD06D6-E20A-4874-86E0-CC24823859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605EFD-49B2-438F-BD5E-24498140EC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28AB72-F012-4E71-8B31-86C7AE61A6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9C7254-0650-4C6B-BDDD-714B21814F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BD3559-3FC4-4DB8-A6AB-0A9C175F7D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937278-8D0C-4075-A526-08A6F435BC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E28D81-2722-4350-8F4B-19BDBD290E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3358AF-3520-446E-B75D-407E57A87B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26C3A0-5282-4320-862D-A4A48993CC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498551-1A90-4C55-8296-37F6E473F8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573FE2-2266-41E0-8D8A-7AB2035549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C3499A-8F85-4BB4-9B03-4368C772EB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9BA2B5-1881-40CD-B45F-649852726C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97B52C-2685-4EBD-B65E-376FEC8A22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AE7F04-71FF-40F2-8995-2E77670A5C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3D51B9-45FE-4A78-A47B-DE8A247D02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6395B2-54A1-4619-9340-94563F6F20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15D642-B8A6-46B6-9C3E-13ACAEFE96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9A6768-B22E-4B84-9829-DBEB21A4BB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AF69E1-57E0-4EDC-9586-E1B7DFA0DC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27FC65-ACA8-43B4-B5E1-9FD5C47FEA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DEE883-EC1A-43C6-BA29-D2D6F80E66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ECC93D-1676-48EB-8970-7B4AEC81BE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mailto:Recall@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hyperlink" Target="https://github.com/richietk/thesis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58440" y="5029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1D7A8A"/>
                </a:solidFill>
                <a:effectLst/>
                <a:uFillTx/>
                <a:latin typeface="Calibri"/>
              </a:rPr>
              <a:t>Bachelor's Thesis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58440" y="868680"/>
            <a:ext cx="77720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Taxonomy and Analysis of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Failure Modes in N-gram Based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Generative Retrieval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58440" y="3246120"/>
            <a:ext cx="7772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CB0C5"/>
                </a:solidFill>
                <a:effectLst/>
                <a:uFillTx/>
                <a:latin typeface="Calibri"/>
              </a:rPr>
              <a:t>WU Vienna  - Richard Takacs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Presentation Outline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255960" y="1115640"/>
            <a:ext cx="8631720" cy="6397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255960" y="1115640"/>
            <a:ext cx="63720" cy="6397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Text 4"/>
          <p:cNvSpPr/>
          <p:nvPr/>
        </p:nvSpPr>
        <p:spPr>
          <a:xfrm>
            <a:off x="384120" y="120708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8D8E4"/>
                </a:solidFill>
                <a:effectLst/>
                <a:uFillTx/>
                <a:latin typeface="Calibri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" name="Text 5"/>
          <p:cNvSpPr/>
          <p:nvPr/>
        </p:nvSpPr>
        <p:spPr>
          <a:xfrm>
            <a:off x="868680" y="11703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Background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2" name="Text 6"/>
          <p:cNvSpPr/>
          <p:nvPr/>
        </p:nvSpPr>
        <p:spPr>
          <a:xfrm>
            <a:off x="868680" y="144468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Sparse → Dense → Generative Retrieval · SEAL &amp; MINDER architectures · Datasets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255960" y="1865520"/>
            <a:ext cx="8631720" cy="6397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255960" y="1865520"/>
            <a:ext cx="63720" cy="6397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5" name="Text 9"/>
          <p:cNvSpPr/>
          <p:nvPr/>
        </p:nvSpPr>
        <p:spPr>
          <a:xfrm>
            <a:off x="384120" y="195696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8D8E4"/>
                </a:solidFill>
                <a:effectLst/>
                <a:uFillTx/>
                <a:latin typeface="Calibri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868680" y="192024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Research Questions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868680" y="219456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RQ1: Taxonomy of failure modes in the literature · RQ2: Empirical analysis of n-gram GR failures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255960" y="2615040"/>
            <a:ext cx="8631720" cy="6397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255960" y="2615040"/>
            <a:ext cx="63720" cy="6397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384120" y="270648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8D8E4"/>
                </a:solidFill>
                <a:effectLst/>
                <a:uFillTx/>
                <a:latin typeface="Calibri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868680" y="26701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RQ1 — Failure Taxonomy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868680" y="294444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Representation · Training · Inference · Response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3" name="Shape 17"/>
          <p:cNvSpPr/>
          <p:nvPr/>
        </p:nvSpPr>
        <p:spPr>
          <a:xfrm>
            <a:off x="255960" y="3364920"/>
            <a:ext cx="8631720" cy="6397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255960" y="3364920"/>
            <a:ext cx="63720" cy="6397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384120" y="345636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8D8E4"/>
                </a:solidFill>
                <a:effectLst/>
                <a:uFillTx/>
                <a:latin typeface="Calibri"/>
              </a:rPr>
              <a:t>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868680" y="34200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RQ2 — Empirical Analysis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Text 21"/>
          <p:cNvSpPr/>
          <p:nvPr/>
        </p:nvSpPr>
        <p:spPr>
          <a:xfrm>
            <a:off x="868680" y="369432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Non-discriminative DocIDs · Length bias · Metadata dependency · Cultural bias · Query mismatch · Scoring artifacts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Shape 22"/>
          <p:cNvSpPr/>
          <p:nvPr/>
        </p:nvSpPr>
        <p:spPr>
          <a:xfrm>
            <a:off x="255960" y="4114800"/>
            <a:ext cx="8631720" cy="6397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9" name="Shape 23"/>
          <p:cNvSpPr/>
          <p:nvPr/>
        </p:nvSpPr>
        <p:spPr>
          <a:xfrm>
            <a:off x="255960" y="4114800"/>
            <a:ext cx="63720" cy="6397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384120" y="42062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8D8E4"/>
                </a:solidFill>
                <a:effectLst/>
                <a:uFillTx/>
                <a:latin typeface="Calibri"/>
              </a:rPr>
              <a:t>05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1" name="Text 25"/>
          <p:cNvSpPr/>
          <p:nvPr/>
        </p:nvSpPr>
        <p:spPr>
          <a:xfrm>
            <a:off x="868680" y="41695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Discussion &amp; Conclusions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2" name="Text 26"/>
          <p:cNvSpPr/>
          <p:nvPr/>
        </p:nvSpPr>
        <p:spPr>
          <a:xfrm>
            <a:off x="868680" y="4443840"/>
            <a:ext cx="7772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Root cause tracing · Limitations · Future work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3" name="Shape 27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4" name="Text 28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5" name="Text 29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Shape 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0F1D30"/>
          </a:solidFill>
          <a:ln w="12600">
            <a:solidFill>
              <a:srgbClr val="0F1D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8" name="Text 2"/>
          <p:cNvSpPr/>
          <p:nvPr/>
        </p:nvSpPr>
        <p:spPr>
          <a:xfrm>
            <a:off x="640080" y="45720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9" name="Text 3"/>
          <p:cNvSpPr/>
          <p:nvPr/>
        </p:nvSpPr>
        <p:spPr>
          <a:xfrm>
            <a:off x="640080" y="1005840"/>
            <a:ext cx="7772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Background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0" name="Text 4"/>
          <p:cNvSpPr/>
          <p:nvPr/>
        </p:nvSpPr>
        <p:spPr>
          <a:xfrm>
            <a:off x="640080" y="274320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8CB0C5"/>
                </a:solidFill>
                <a:effectLst/>
                <a:uFillTx/>
                <a:latin typeface="Calibri"/>
              </a:rPr>
              <a:t>From sparse retrieval to generative retrieval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2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Three Methods of Information Retrieval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255960" y="1097280"/>
            <a:ext cx="2815920" cy="36572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255960" y="1097280"/>
            <a:ext cx="2815920" cy="36540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5" name="Text 5"/>
          <p:cNvSpPr/>
          <p:nvPr/>
        </p:nvSpPr>
        <p:spPr>
          <a:xfrm>
            <a:off x="255960" y="1097280"/>
            <a:ext cx="281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1970s–1980s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6" name="Text 6"/>
          <p:cNvSpPr/>
          <p:nvPr/>
        </p:nvSpPr>
        <p:spPr>
          <a:xfrm>
            <a:off x="347400" y="1536120"/>
            <a:ext cx="2633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Sparse Retrieval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7" name="Text 7"/>
          <p:cNvSpPr/>
          <p:nvPr/>
        </p:nvSpPr>
        <p:spPr>
          <a:xfrm>
            <a:off x="347400" y="1865520"/>
            <a:ext cx="263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e.g. BM25, SPLADE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8" name="Text 8"/>
          <p:cNvSpPr/>
          <p:nvPr/>
        </p:nvSpPr>
        <p:spPr>
          <a:xfrm>
            <a:off x="347400" y="215784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Index lookup via term matching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9" name="Text 9"/>
          <p:cNvSpPr/>
          <p:nvPr/>
        </p:nvSpPr>
        <p:spPr>
          <a:xfrm>
            <a:off x="347400" y="267012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High-dimensional sparse vectors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347400" y="318204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Fast, interpretable, no training needed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347400" y="369432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Fails on vocabulary mismatch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2" name="Shape 12"/>
          <p:cNvSpPr/>
          <p:nvPr/>
        </p:nvSpPr>
        <p:spPr>
          <a:xfrm>
            <a:off x="3218760" y="1097280"/>
            <a:ext cx="2815920" cy="36572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3" name="Shape 13"/>
          <p:cNvSpPr/>
          <p:nvPr/>
        </p:nvSpPr>
        <p:spPr>
          <a:xfrm>
            <a:off x="3218760" y="1097280"/>
            <a:ext cx="2815920" cy="36540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3218760" y="1097280"/>
            <a:ext cx="281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2020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3310200" y="1536120"/>
            <a:ext cx="2633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Dense Retrieval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3310200" y="1865520"/>
            <a:ext cx="263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e.g. DPR, Contriever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7" name="Text 17"/>
          <p:cNvSpPr/>
          <p:nvPr/>
        </p:nvSpPr>
        <p:spPr>
          <a:xfrm>
            <a:off x="3310200" y="215784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BERT-based dual encoder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3310200" y="267012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Query &amp; doc encoded to dense vectors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3310200" y="318204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Cosine similarity matching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3310200" y="369432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Requires separate vector index (e.g. FAISS)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1" name="Shape 21"/>
          <p:cNvSpPr/>
          <p:nvPr/>
        </p:nvSpPr>
        <p:spPr>
          <a:xfrm>
            <a:off x="6181200" y="1097280"/>
            <a:ext cx="2815920" cy="36572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2" name="Shape 22"/>
          <p:cNvSpPr/>
          <p:nvPr/>
        </p:nvSpPr>
        <p:spPr>
          <a:xfrm>
            <a:off x="6181200" y="1097280"/>
            <a:ext cx="2815920" cy="36540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3" name="Text 23"/>
          <p:cNvSpPr/>
          <p:nvPr/>
        </p:nvSpPr>
        <p:spPr>
          <a:xfrm>
            <a:off x="6181200" y="1097280"/>
            <a:ext cx="281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2020+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4" name="Text 24"/>
          <p:cNvSpPr/>
          <p:nvPr/>
        </p:nvSpPr>
        <p:spPr>
          <a:xfrm>
            <a:off x="6272640" y="1536120"/>
            <a:ext cx="2633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Generative Retrieval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5" name="Text 25"/>
          <p:cNvSpPr/>
          <p:nvPr/>
        </p:nvSpPr>
        <p:spPr>
          <a:xfrm>
            <a:off x="6272640" y="1865520"/>
            <a:ext cx="263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e.g. SEAL, MINDER, DSI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6" name="Text 26"/>
          <p:cNvSpPr/>
          <p:nvPr/>
        </p:nvSpPr>
        <p:spPr>
          <a:xfrm>
            <a:off x="6272640" y="215784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Corpus encoded into LM parameters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7" name="Text 27"/>
          <p:cNvSpPr/>
          <p:nvPr/>
        </p:nvSpPr>
        <p:spPr>
          <a:xfrm>
            <a:off x="6272640" y="267012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Autoregressively generates DocIDs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8" name="Text 28"/>
          <p:cNvSpPr/>
          <p:nvPr/>
        </p:nvSpPr>
        <p:spPr>
          <a:xfrm>
            <a:off x="6272640" y="318204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No external index needed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9" name="Text 29"/>
          <p:cNvSpPr/>
          <p:nvPr/>
        </p:nvSpPr>
        <p:spPr>
          <a:xfrm>
            <a:off x="6272640" y="3694320"/>
            <a:ext cx="263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Single end-to-end model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0" name="Shape 30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81" name="Text 31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2" name="Text 32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84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Generative Retrieval — How It Works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5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255960" y="1115640"/>
            <a:ext cx="4297320" cy="36025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255960" y="1115640"/>
            <a:ext cx="4297320" cy="54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88" name="Text 5"/>
          <p:cNvSpPr/>
          <p:nvPr/>
        </p:nvSpPr>
        <p:spPr>
          <a:xfrm>
            <a:off x="402480" y="118872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DocID Types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347400" y="1572840"/>
            <a:ext cx="4041360" cy="420120"/>
          </a:xfrm>
          <a:prstGeom prst="rect">
            <a:avLst/>
          </a:prstGeom>
          <a:solidFill>
            <a:srgbClr val="F5F7FA"/>
          </a:solidFill>
          <a:ln w="12600">
            <a:solidFill>
              <a:srgbClr val="C8D8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347400" y="1572840"/>
            <a:ext cx="4536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1" name="Text 8"/>
          <p:cNvSpPr/>
          <p:nvPr/>
        </p:nvSpPr>
        <p:spPr>
          <a:xfrm>
            <a:off x="457200" y="16092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Numeric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2" name="Text 9"/>
          <p:cNvSpPr/>
          <p:nvPr/>
        </p:nvSpPr>
        <p:spPr>
          <a:xfrm>
            <a:off x="457200" y="17920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Random integers, hierarchical cluster paths, PQ-codes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347400" y="2084760"/>
            <a:ext cx="4041360" cy="420120"/>
          </a:xfrm>
          <a:prstGeom prst="rect">
            <a:avLst/>
          </a:prstGeom>
          <a:solidFill>
            <a:srgbClr val="F5F7FA"/>
          </a:solidFill>
          <a:ln w="12600">
            <a:solidFill>
              <a:srgbClr val="C8D8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347400" y="2084760"/>
            <a:ext cx="4536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457200" y="212148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Titles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457200" y="23043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Document title; works well on NQ, fails on MSMARCO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347400" y="2597040"/>
            <a:ext cx="4041360" cy="420120"/>
          </a:xfrm>
          <a:prstGeom prst="rect">
            <a:avLst/>
          </a:prstGeom>
          <a:solidFill>
            <a:srgbClr val="F5F7FA"/>
          </a:solidFill>
          <a:ln w="12600">
            <a:solidFill>
              <a:srgbClr val="C8D8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347400" y="2597040"/>
            <a:ext cx="4536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457200" y="26334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N-grams / Substrings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457200" y="28162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Any contiguous span of text from the corpus (SEAL, MINDER)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1" name="Shape 18"/>
          <p:cNvSpPr/>
          <p:nvPr/>
        </p:nvSpPr>
        <p:spPr>
          <a:xfrm>
            <a:off x="347400" y="3108960"/>
            <a:ext cx="4041360" cy="420120"/>
          </a:xfrm>
          <a:prstGeom prst="rect">
            <a:avLst/>
          </a:prstGeom>
          <a:solidFill>
            <a:srgbClr val="F5F7FA"/>
          </a:solidFill>
          <a:ln w="12600">
            <a:solidFill>
              <a:srgbClr val="C8D8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347400" y="3108960"/>
            <a:ext cx="4536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3" name="Text 20"/>
          <p:cNvSpPr/>
          <p:nvPr/>
        </p:nvSpPr>
        <p:spPr>
          <a:xfrm>
            <a:off x="457200" y="314568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Pseudoqueries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4" name="Text 21"/>
          <p:cNvSpPr/>
          <p:nvPr/>
        </p:nvSpPr>
        <p:spPr>
          <a:xfrm>
            <a:off x="457200" y="33285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Synthetically generated queries per </a:t>
            </a: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document (MINDER)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5" name="Shape 22"/>
          <p:cNvSpPr/>
          <p:nvPr/>
        </p:nvSpPr>
        <p:spPr>
          <a:xfrm>
            <a:off x="347400" y="3620880"/>
            <a:ext cx="4041360" cy="420120"/>
          </a:xfrm>
          <a:prstGeom prst="rect">
            <a:avLst/>
          </a:prstGeom>
          <a:solidFill>
            <a:srgbClr val="F5F7FA"/>
          </a:solidFill>
          <a:ln w="12600">
            <a:solidFill>
              <a:srgbClr val="C8D8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6" name="Shape 23"/>
          <p:cNvSpPr/>
          <p:nvPr/>
        </p:nvSpPr>
        <p:spPr>
          <a:xfrm>
            <a:off x="347400" y="3620880"/>
            <a:ext cx="4536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7" name="Text 24"/>
          <p:cNvSpPr/>
          <p:nvPr/>
        </p:nvSpPr>
        <p:spPr>
          <a:xfrm>
            <a:off x="457200" y="36576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Term Sets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8" name="Text 25"/>
          <p:cNvSpPr/>
          <p:nvPr/>
        </p:nvSpPr>
        <p:spPr>
          <a:xfrm>
            <a:off x="457200" y="38404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Permutation-invariant bag of terms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9" name="Shape 26"/>
          <p:cNvSpPr/>
          <p:nvPr/>
        </p:nvSpPr>
        <p:spPr>
          <a:xfrm>
            <a:off x="347400" y="4133160"/>
            <a:ext cx="4041360" cy="420120"/>
          </a:xfrm>
          <a:prstGeom prst="rect">
            <a:avLst/>
          </a:prstGeom>
          <a:solidFill>
            <a:srgbClr val="F5F7FA"/>
          </a:solidFill>
          <a:ln w="12600">
            <a:solidFill>
              <a:srgbClr val="C8D8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0" name="Shape 27"/>
          <p:cNvSpPr/>
          <p:nvPr/>
        </p:nvSpPr>
        <p:spPr>
          <a:xfrm>
            <a:off x="347400" y="4133160"/>
            <a:ext cx="4536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1" name="Text 28"/>
          <p:cNvSpPr/>
          <p:nvPr/>
        </p:nvSpPr>
        <p:spPr>
          <a:xfrm>
            <a:off x="457200" y="416952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Hybrid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2" name="Text 29"/>
          <p:cNvSpPr/>
          <p:nvPr/>
        </p:nvSpPr>
        <p:spPr>
          <a:xfrm>
            <a:off x="457200" y="43524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Combination of the above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3" name="Shape 30"/>
          <p:cNvSpPr/>
          <p:nvPr/>
        </p:nvSpPr>
        <p:spPr>
          <a:xfrm>
            <a:off x="4791600" y="1115640"/>
            <a:ext cx="4114440" cy="36025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4" name="Shape 31"/>
          <p:cNvSpPr/>
          <p:nvPr/>
        </p:nvSpPr>
        <p:spPr>
          <a:xfrm>
            <a:off x="4791600" y="1115640"/>
            <a:ext cx="4114440" cy="5436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5" name="Text 32"/>
          <p:cNvSpPr/>
          <p:nvPr/>
        </p:nvSpPr>
        <p:spPr>
          <a:xfrm>
            <a:off x="4937760" y="118872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Retrieval Pipeline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6" name="Shape 33"/>
          <p:cNvSpPr/>
          <p:nvPr/>
        </p:nvSpPr>
        <p:spPr>
          <a:xfrm>
            <a:off x="4883040" y="1572840"/>
            <a:ext cx="34704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7" name="Text 34"/>
          <p:cNvSpPr/>
          <p:nvPr/>
        </p:nvSpPr>
        <p:spPr>
          <a:xfrm>
            <a:off x="4883040" y="1572840"/>
            <a:ext cx="347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8" name="Text 35"/>
          <p:cNvSpPr/>
          <p:nvPr/>
        </p:nvSpPr>
        <p:spPr>
          <a:xfrm>
            <a:off x="5303520" y="160020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Corpus Indexing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9" name="Text 36"/>
          <p:cNvSpPr/>
          <p:nvPr/>
        </p:nvSpPr>
        <p:spPr>
          <a:xfrm>
            <a:off x="5303520" y="179208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All documents &amp; passages encoded into LM weights during training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0" name="Shape 37"/>
          <p:cNvSpPr/>
          <p:nvPr/>
        </p:nvSpPr>
        <p:spPr>
          <a:xfrm>
            <a:off x="4883040" y="2139840"/>
            <a:ext cx="34704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21" name="Text 38"/>
          <p:cNvSpPr/>
          <p:nvPr/>
        </p:nvSpPr>
        <p:spPr>
          <a:xfrm>
            <a:off x="4883040" y="2139840"/>
            <a:ext cx="347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2" name="Text 39"/>
          <p:cNvSpPr/>
          <p:nvPr/>
        </p:nvSpPr>
        <p:spPr>
          <a:xfrm>
            <a:off x="5303520" y="216720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Query Encoding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3" name="Text 40"/>
          <p:cNvSpPr/>
          <p:nvPr/>
        </p:nvSpPr>
        <p:spPr>
          <a:xfrm>
            <a:off x="5303520" y="235908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Encoder (BART/T5) embeds the query into a fixed representation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4" name="Shape 41"/>
          <p:cNvSpPr/>
          <p:nvPr/>
        </p:nvSpPr>
        <p:spPr>
          <a:xfrm>
            <a:off x="4883040" y="2706480"/>
            <a:ext cx="34704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25" name="Text 42"/>
          <p:cNvSpPr/>
          <p:nvPr/>
        </p:nvSpPr>
        <p:spPr>
          <a:xfrm>
            <a:off x="4883040" y="2706480"/>
            <a:ext cx="347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6" name="Text 43"/>
          <p:cNvSpPr/>
          <p:nvPr/>
        </p:nvSpPr>
        <p:spPr>
          <a:xfrm>
            <a:off x="5303520" y="273420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DocID Generation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7" name="Text 44"/>
          <p:cNvSpPr/>
          <p:nvPr/>
        </p:nvSpPr>
        <p:spPr>
          <a:xfrm>
            <a:off x="5303520" y="292608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Decoder autoregressively generates DocID tokens via beam search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8" name="Shape 45"/>
          <p:cNvSpPr/>
          <p:nvPr/>
        </p:nvSpPr>
        <p:spPr>
          <a:xfrm>
            <a:off x="4883040" y="3273480"/>
            <a:ext cx="34704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29" name="Text 46"/>
          <p:cNvSpPr/>
          <p:nvPr/>
        </p:nvSpPr>
        <p:spPr>
          <a:xfrm>
            <a:off x="4883040" y="3273480"/>
            <a:ext cx="347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0" name="Text 47"/>
          <p:cNvSpPr/>
          <p:nvPr/>
        </p:nvSpPr>
        <p:spPr>
          <a:xfrm>
            <a:off x="5303520" y="330084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Constrained Decoding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1" name="Text 48"/>
          <p:cNvSpPr/>
          <p:nvPr/>
        </p:nvSpPr>
        <p:spPr>
          <a:xfrm>
            <a:off x="5303520" y="349308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FM-Index or Trie ensures only corpus-valid sequences are generated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2" name="Shape 49"/>
          <p:cNvSpPr/>
          <p:nvPr/>
        </p:nvSpPr>
        <p:spPr>
          <a:xfrm>
            <a:off x="4883040" y="3840480"/>
            <a:ext cx="34704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33" name="Text 50"/>
          <p:cNvSpPr/>
          <p:nvPr/>
        </p:nvSpPr>
        <p:spPr>
          <a:xfrm>
            <a:off x="4883040" y="3840480"/>
            <a:ext cx="347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4" name="Text 51"/>
          <p:cNvSpPr/>
          <p:nvPr/>
        </p:nvSpPr>
        <p:spPr>
          <a:xfrm>
            <a:off x="5303520" y="386784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Passage Ranking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5" name="Text 52"/>
          <p:cNvSpPr/>
          <p:nvPr/>
        </p:nvSpPr>
        <p:spPr>
          <a:xfrm>
            <a:off x="5303520" y="406008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DocIDs are scored to get final ranked passage list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6" name="Shape 53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37" name="Text 54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8" name="Text 55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SEAL and MINDER — Analyzed Models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255960" y="1115640"/>
            <a:ext cx="4205880" cy="3657240"/>
          </a:xfrm>
          <a:prstGeom prst="rect">
            <a:avLst/>
          </a:prstGeom>
          <a:solidFill>
            <a:srgbClr val="FFFFFF"/>
          </a:solidFill>
          <a:ln w="25560">
            <a:solidFill>
              <a:srgbClr val="2A9DAF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255960" y="1115640"/>
            <a:ext cx="420588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365760" y="1115640"/>
            <a:ext cx="2925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3273480" y="1115640"/>
            <a:ext cx="109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Bevilacqua et al.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393120" y="162756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DocIDs = any n-gram substring in the corpus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393120" y="221292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FM-Index constrains decoding to valid corpus strings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393120" y="279792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Scoring: log-odds ratio of P(ngram|corpus) vs P(ngram) — rewards rare, query-specific n-grams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393120" y="338328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Aggregates scores from multiple non-overlapping n-grams per passage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393120" y="396864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Limitation: bound to exact word orderings in corpus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4718160" y="1115640"/>
            <a:ext cx="4205880" cy="3657240"/>
          </a:xfrm>
          <a:prstGeom prst="rect">
            <a:avLst/>
          </a:prstGeom>
          <a:solidFill>
            <a:srgbClr val="FFFFFF"/>
          </a:solidFill>
          <a:ln w="25560">
            <a:solidFill>
              <a:srgbClr val="2A9DAF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1" name="Shape 13"/>
          <p:cNvSpPr/>
          <p:nvPr/>
        </p:nvSpPr>
        <p:spPr>
          <a:xfrm>
            <a:off x="4718160" y="1115640"/>
            <a:ext cx="4205880" cy="4201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4827960" y="1115640"/>
            <a:ext cx="2925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MINDER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7735680" y="1115640"/>
            <a:ext cx="109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 et al.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4855320" y="162756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Extends SEAL with three identifier views per passage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4855320" y="221292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View 1: Document title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6" name="Text 18"/>
          <p:cNvSpPr/>
          <p:nvPr/>
        </p:nvSpPr>
        <p:spPr>
          <a:xfrm>
            <a:off x="4855320" y="279792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View 2: N-gram substrings, same as SEAL (but simpler scoring)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4855320" y="338328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View 3: Pseudoquery — synthetic query generated for each passage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8" name="Text 20"/>
          <p:cNvSpPr/>
          <p:nvPr/>
        </p:nvSpPr>
        <p:spPr>
          <a:xfrm>
            <a:off x="4855320" y="396864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Pseudoquery view mitigates lexical gap &amp; compensates for missing metadata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9" name="Shape 21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60" name="Text 22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1" name="Text 23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Evaluation Datasets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5" name="Shape 3"/>
          <p:cNvSpPr/>
          <p:nvPr/>
        </p:nvSpPr>
        <p:spPr>
          <a:xfrm>
            <a:off x="255960" y="1115640"/>
            <a:ext cx="8631720" cy="1810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6" name="Shape 4"/>
          <p:cNvSpPr/>
          <p:nvPr/>
        </p:nvSpPr>
        <p:spPr>
          <a:xfrm>
            <a:off x="255960" y="1115640"/>
            <a:ext cx="63720" cy="181008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402480" y="118872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Natural Questions (NQ)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402480" y="1463040"/>
            <a:ext cx="4571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Google Search queries + English Wikipedia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402480" y="1682640"/>
            <a:ext cx="4571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Clean, unique article titles. Academic benchmark standard. Structured Wikipedia passages. Favours metadata-heavy retrieval strategies.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0" name="Shape 8"/>
          <p:cNvSpPr/>
          <p:nvPr/>
        </p:nvSpPr>
        <p:spPr>
          <a:xfrm>
            <a:off x="6602400" y="1298520"/>
            <a:ext cx="959760" cy="1425960"/>
          </a:xfrm>
          <a:prstGeom prst="rect">
            <a:avLst/>
          </a:prstGeom>
          <a:solidFill>
            <a:srgbClr val="F5F7FA"/>
          </a:solidFill>
          <a:ln w="12600">
            <a:solidFill>
              <a:srgbClr val="1D7A8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6602400" y="1426320"/>
            <a:ext cx="95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A9DAF"/>
                </a:solidFill>
                <a:effectLst/>
                <a:uFillTx/>
                <a:latin typeface="Calibri"/>
              </a:rPr>
              <a:t>21M</a:t>
            </a:r>
            <a:endParaRPr lang="en-US" sz="2200" b="0" u="none" strike="noStrike">
              <a:solidFill>
                <a:srgbClr val="2A9DAF"/>
              </a:solidFill>
              <a:effectLst/>
              <a:uFillTx/>
              <a:latin typeface="DejaVu Sans"/>
            </a:endParaRPr>
          </a:p>
        </p:txBody>
      </p:sp>
      <p:sp>
        <p:nvSpPr>
          <p:cNvPr id="172" name="Text 10"/>
          <p:cNvSpPr/>
          <p:nvPr/>
        </p:nvSpPr>
        <p:spPr>
          <a:xfrm>
            <a:off x="6602400" y="1993320"/>
            <a:ext cx="95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Passages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3" name="Shape 11"/>
          <p:cNvSpPr/>
          <p:nvPr/>
        </p:nvSpPr>
        <p:spPr>
          <a:xfrm>
            <a:off x="7699680" y="1298520"/>
            <a:ext cx="959760" cy="1425960"/>
          </a:xfrm>
          <a:prstGeom prst="rect">
            <a:avLst/>
          </a:prstGeom>
          <a:solidFill>
            <a:srgbClr val="F5F7FA"/>
          </a:solidFill>
          <a:ln w="12600">
            <a:solidFill>
              <a:srgbClr val="1D7A8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4" name="Text 12"/>
          <p:cNvSpPr/>
          <p:nvPr/>
        </p:nvSpPr>
        <p:spPr>
          <a:xfrm>
            <a:off x="7699680" y="1426320"/>
            <a:ext cx="95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A9DAF"/>
                </a:solidFill>
                <a:effectLst/>
                <a:uFillTx/>
                <a:latin typeface="Calibri"/>
              </a:rPr>
              <a:t>6,515</a:t>
            </a:r>
            <a:endParaRPr lang="en-US" sz="2200" b="0" u="none" strike="noStrike">
              <a:solidFill>
                <a:srgbClr val="2A9DAF"/>
              </a:solidFill>
              <a:effectLst/>
              <a:uFillTx/>
              <a:latin typeface="DejaVu Sans"/>
            </a:endParaRPr>
          </a:p>
        </p:txBody>
      </p:sp>
      <p:sp>
        <p:nvSpPr>
          <p:cNvPr id="175" name="Text 13"/>
          <p:cNvSpPr/>
          <p:nvPr/>
        </p:nvSpPr>
        <p:spPr>
          <a:xfrm>
            <a:off x="7699680" y="1993320"/>
            <a:ext cx="95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Test queries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6" name="Shape 17"/>
          <p:cNvSpPr/>
          <p:nvPr/>
        </p:nvSpPr>
        <p:spPr>
          <a:xfrm>
            <a:off x="255960" y="3054240"/>
            <a:ext cx="8631720" cy="181008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7" name="Shape 18"/>
          <p:cNvSpPr/>
          <p:nvPr/>
        </p:nvSpPr>
        <p:spPr>
          <a:xfrm>
            <a:off x="255960" y="3054240"/>
            <a:ext cx="63720" cy="181008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78" name="Text 19"/>
          <p:cNvSpPr/>
          <p:nvPr/>
        </p:nvSpPr>
        <p:spPr>
          <a:xfrm>
            <a:off x="402480" y="312732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MSMARCO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402480" y="3401640"/>
            <a:ext cx="4571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Bing Search queries + Web snippets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0" name="Text 21"/>
          <p:cNvSpPr/>
          <p:nvPr/>
        </p:nvSpPr>
        <p:spPr>
          <a:xfrm>
            <a:off x="402480" y="3620880"/>
            <a:ext cx="4571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Messy, incomplete, non-unique metadata. Reflects real-world search conditions. Harder for models relying on title shortcuts.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1" name="Shape 22"/>
          <p:cNvSpPr/>
          <p:nvPr/>
        </p:nvSpPr>
        <p:spPr>
          <a:xfrm>
            <a:off x="6602400" y="3237120"/>
            <a:ext cx="959760" cy="1425960"/>
          </a:xfrm>
          <a:prstGeom prst="rect">
            <a:avLst/>
          </a:prstGeom>
          <a:solidFill>
            <a:srgbClr val="F5F7FA"/>
          </a:solidFill>
          <a:ln w="12600">
            <a:solidFill>
              <a:srgbClr val="2A9DAF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2" name="Text 23"/>
          <p:cNvSpPr/>
          <p:nvPr/>
        </p:nvSpPr>
        <p:spPr>
          <a:xfrm>
            <a:off x="6602400" y="3364920"/>
            <a:ext cx="95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A9DAF"/>
                </a:solidFill>
                <a:effectLst/>
                <a:uFillTx/>
                <a:latin typeface="Calibri"/>
              </a:rPr>
              <a:t>8.8M</a:t>
            </a:r>
            <a:endParaRPr lang="en-US" sz="2200" b="0" u="none" strike="noStrike">
              <a:solidFill>
                <a:srgbClr val="2A9DAF"/>
              </a:solidFill>
              <a:effectLst/>
              <a:uFillTx/>
              <a:latin typeface="DejaVu Sans"/>
            </a:endParaRPr>
          </a:p>
        </p:txBody>
      </p:sp>
      <p:sp>
        <p:nvSpPr>
          <p:cNvPr id="183" name="Text 24"/>
          <p:cNvSpPr/>
          <p:nvPr/>
        </p:nvSpPr>
        <p:spPr>
          <a:xfrm>
            <a:off x="6602400" y="3931920"/>
            <a:ext cx="95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Passages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4" name="Shape 25"/>
          <p:cNvSpPr/>
          <p:nvPr/>
        </p:nvSpPr>
        <p:spPr>
          <a:xfrm>
            <a:off x="7699680" y="3237120"/>
            <a:ext cx="959760" cy="1425960"/>
          </a:xfrm>
          <a:prstGeom prst="rect">
            <a:avLst/>
          </a:prstGeom>
          <a:solidFill>
            <a:srgbClr val="F5F7FA"/>
          </a:solidFill>
          <a:ln w="12600">
            <a:solidFill>
              <a:srgbClr val="2A9DAF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5" name="Text 26"/>
          <p:cNvSpPr/>
          <p:nvPr/>
        </p:nvSpPr>
        <p:spPr>
          <a:xfrm>
            <a:off x="7699680" y="3364920"/>
            <a:ext cx="95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A9DAF"/>
                </a:solidFill>
                <a:effectLst/>
                <a:uFillTx/>
                <a:latin typeface="Calibri"/>
              </a:rPr>
              <a:t>6,980</a:t>
            </a:r>
            <a:endParaRPr lang="en-US" sz="2200" b="0" u="none" strike="noStrike">
              <a:solidFill>
                <a:srgbClr val="2A9DAF"/>
              </a:solidFill>
              <a:effectLst/>
              <a:uFillTx/>
              <a:latin typeface="DejaVu Sans"/>
            </a:endParaRPr>
          </a:p>
        </p:txBody>
      </p:sp>
      <p:sp>
        <p:nvSpPr>
          <p:cNvPr id="186" name="Text 27"/>
          <p:cNvSpPr/>
          <p:nvPr/>
        </p:nvSpPr>
        <p:spPr>
          <a:xfrm>
            <a:off x="7699680" y="3931920"/>
            <a:ext cx="95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Test queries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7" name="Shape 31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88" name="Text 32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9" name="Text 33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0F1D30"/>
          </a:solidFill>
          <a:ln w="12600">
            <a:solidFill>
              <a:srgbClr val="0F1D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640080" y="45720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640080" y="1005840"/>
            <a:ext cx="7772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Research Questions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640080" y="274320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8CB0C5"/>
                </a:solidFill>
                <a:effectLst/>
                <a:uFillTx/>
                <a:latin typeface="Calibri"/>
              </a:rPr>
              <a:t>What we set out to investigate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640080" y="2743200"/>
            <a:ext cx="7772040" cy="1279800"/>
          </a:xfrm>
          <a:prstGeom prst="rect">
            <a:avLst/>
          </a:prstGeom>
          <a:solidFill>
            <a:srgbClr val="142238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822960" y="283464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RQ1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822960" y="309060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failure modes of GR systems have been identified in the literature, and how can they be organized into a coherent taxonomy?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822960" y="352944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A9DAF"/>
                </a:solidFill>
                <a:effectLst/>
                <a:uFillTx/>
                <a:latin typeface="Calibri"/>
              </a:rPr>
              <a:t>RQ2</a:t>
            </a:r>
            <a:endParaRPr lang="en-US" sz="1100" b="0" u="none" strike="noStrike">
              <a:solidFill>
                <a:srgbClr val="2A9DAF"/>
              </a:solidFill>
              <a:effectLst/>
              <a:uFillTx/>
              <a:latin typeface="DejaVu Sans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822960" y="37857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Which failure modes appear in n-gram-based retrieval? When and how do they happen?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0F1D30"/>
          </a:solidFill>
          <a:ln w="12600">
            <a:solidFill>
              <a:srgbClr val="0F1D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640080" y="45720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640080" y="1005840"/>
            <a:ext cx="7772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RQ1 — Failure Mode Taxonomy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640080" y="274320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Taxonomy Overview — Four Stages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219960" y="1097280"/>
            <a:ext cx="2048040" cy="3657240"/>
          </a:xfrm>
          <a:prstGeom prst="rect">
            <a:avLst/>
          </a:prstGeom>
          <a:solidFill>
            <a:srgbClr val="FFFFFF"/>
          </a:solidFill>
          <a:ln w="12600">
            <a:solidFill>
              <a:srgbClr val="1D7A8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200" b="0" u="none" strike="noStrike">
              <a:solidFill>
                <a:srgbClr val="1E2D3D"/>
              </a:solidFill>
              <a:effectLst/>
              <a:uFillTx/>
              <a:latin typeface="Calibri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219960" y="1097280"/>
            <a:ext cx="2048040" cy="3837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329040" y="109728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  Representation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258120" y="1438920"/>
            <a:ext cx="2009880" cy="33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highlight>
                  <a:srgbClr val="FFAA95"/>
                </a:highlight>
                <a:uFillTx/>
                <a:latin typeface="Calibri"/>
              </a:rPr>
              <a:t>Indistinct DocIDs ₁,₂,₃,₄</a:t>
            </a:r>
            <a:endParaRPr lang="en-US" sz="1200" b="0" u="none" strike="noStrike">
              <a:solidFill>
                <a:srgbClr val="000000"/>
              </a:solidFill>
              <a:effectLst/>
              <a:highlight>
                <a:srgbClr val="FFAA95"/>
              </a:highlight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highlight>
                  <a:srgbClr val="FFAA95"/>
                </a:highlight>
                <a:uFillTx/>
                <a:latin typeface="Calibri"/>
              </a:rPr>
              <a:t>Tokenization failures ₂₉</a:t>
            </a:r>
            <a:endParaRPr lang="en-US" sz="1200" b="0" u="none" strike="noStrike">
              <a:solidFill>
                <a:srgbClr val="000000"/>
              </a:solidFill>
              <a:effectLst/>
              <a:highlight>
                <a:srgbClr val="FFAA95"/>
              </a:highlight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highlight>
                  <a:srgbClr val="FFAA95"/>
                </a:highlight>
                <a:uFillTx/>
                <a:latin typeface="Calibri"/>
              </a:rPr>
              <a:t>Static DocID assignment ₁₈</a:t>
            </a:r>
            <a:endParaRPr lang="en-US" sz="1200" b="0" u="none" strike="noStrike">
              <a:solidFill>
                <a:srgbClr val="000000"/>
              </a:solidFill>
              <a:effectLst/>
              <a:highlight>
                <a:srgbClr val="FFAA95"/>
              </a:highlight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highlight>
                  <a:srgbClr val="FFAA95"/>
                </a:highlight>
                <a:uFillTx/>
                <a:latin typeface="Calibri"/>
              </a:rPr>
              <a:t>Metadata over-reliance ₁₄,₁₅</a:t>
            </a:r>
            <a:endParaRPr lang="en-US" sz="1200" b="0" u="none" strike="noStrike">
              <a:solidFill>
                <a:srgbClr val="000000"/>
              </a:solidFill>
              <a:effectLst/>
              <a:highlight>
                <a:srgbClr val="FFAA95"/>
              </a:highlight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highlight>
                  <a:srgbClr val="FFAA95"/>
                </a:highlight>
                <a:uFillTx/>
                <a:latin typeface="Calibri"/>
              </a:rPr>
              <a:t>Lexical mismatch ₁₉,₁₄</a:t>
            </a:r>
            <a:endParaRPr lang="en-US" sz="1200" b="0" u="none" strike="noStrike">
              <a:solidFill>
                <a:srgbClr val="000000"/>
              </a:solidFill>
              <a:effectLst/>
              <a:highlight>
                <a:srgbClr val="FFAA95"/>
              </a:highlight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highlight>
                  <a:srgbClr val="FFAA95"/>
                </a:highlight>
                <a:uFillTx/>
                <a:latin typeface="Calibri"/>
              </a:rPr>
              <a:t>N-gram contiguity constraint ₁₄</a:t>
            </a:r>
            <a:endParaRPr lang="en-US" sz="1200" b="0" u="none" strike="noStrike">
              <a:solidFill>
                <a:srgbClr val="000000"/>
              </a:solidFill>
              <a:effectLst/>
              <a:highlight>
                <a:srgbClr val="FFAA95"/>
              </a:highlight>
              <a:uFillTx/>
              <a:latin typeface="DejaVu Sans"/>
            </a:endParaRPr>
          </a:p>
        </p:txBody>
      </p:sp>
      <p:sp>
        <p:nvSpPr>
          <p:cNvPr id="212" name="Shape 12"/>
          <p:cNvSpPr/>
          <p:nvPr/>
        </p:nvSpPr>
        <p:spPr>
          <a:xfrm>
            <a:off x="2450520" y="1097280"/>
            <a:ext cx="2048040" cy="3657240"/>
          </a:xfrm>
          <a:prstGeom prst="rect">
            <a:avLst/>
          </a:prstGeom>
          <a:solidFill>
            <a:srgbClr val="FFFFFF"/>
          </a:solidFill>
          <a:ln w="12600">
            <a:solidFill>
              <a:srgbClr val="2A9DAF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3" name="Shape 13"/>
          <p:cNvSpPr/>
          <p:nvPr/>
        </p:nvSpPr>
        <p:spPr>
          <a:xfrm>
            <a:off x="2450520" y="1097280"/>
            <a:ext cx="2048040" cy="38376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14" name="Text 14"/>
          <p:cNvSpPr/>
          <p:nvPr/>
        </p:nvSpPr>
        <p:spPr>
          <a:xfrm>
            <a:off x="2523600" y="109728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  Training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5" name="Text 16"/>
          <p:cNvSpPr/>
          <p:nvPr/>
        </p:nvSpPr>
        <p:spPr>
          <a:xfrm>
            <a:off x="2492280" y="1535760"/>
            <a:ext cx="1952640" cy="30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Dynamic corpus / deletion / forgetting ₅,₆,₇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highlight>
                  <a:srgbClr val="FFAA95"/>
                </a:highlight>
                <a:uFillTx/>
                <a:latin typeface="Calibri"/>
              </a:rPr>
              <a:t>Western-centric bias ₂₀,₂₁,₂₂,₂₃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Zero-shot failure ₁₉,₂₄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Distillation errors ₂₅,₂₆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Unlabeled documents ₇,₂₇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Capacity limits ₂₇,₁₂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6" name="Shape 22"/>
          <p:cNvSpPr/>
          <p:nvPr/>
        </p:nvSpPr>
        <p:spPr>
          <a:xfrm>
            <a:off x="4645080" y="1097280"/>
            <a:ext cx="2048040" cy="3657240"/>
          </a:xfrm>
          <a:prstGeom prst="rect">
            <a:avLst/>
          </a:prstGeom>
          <a:solidFill>
            <a:srgbClr val="FFFFFF"/>
          </a:solidFill>
          <a:ln w="25560">
            <a:solidFill>
              <a:srgbClr val="E8A838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7" name="Shape 23"/>
          <p:cNvSpPr/>
          <p:nvPr/>
        </p:nvSpPr>
        <p:spPr>
          <a:xfrm>
            <a:off x="4645080" y="1097280"/>
            <a:ext cx="2048040" cy="383760"/>
          </a:xfrm>
          <a:prstGeom prst="rect">
            <a:avLst/>
          </a:prstGeom>
          <a:solidFill>
            <a:srgbClr val="E8A838"/>
          </a:solidFill>
          <a:ln w="126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8" name="Text 24"/>
          <p:cNvSpPr/>
          <p:nvPr/>
        </p:nvSpPr>
        <p:spPr>
          <a:xfrm>
            <a:off x="4718160" y="109728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  Inference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9" name="Text 25"/>
          <p:cNvSpPr/>
          <p:nvPr/>
        </p:nvSpPr>
        <p:spPr>
          <a:xfrm>
            <a:off x="4736520" y="157284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False pruning ₈,₉,₃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20" name="Text 26"/>
          <p:cNvSpPr/>
          <p:nvPr/>
        </p:nvSpPr>
        <p:spPr>
          <a:xfrm>
            <a:off x="4736520" y="208476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Latency / compute cost ₁₂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21" name="Text 27"/>
          <p:cNvSpPr/>
          <p:nvPr/>
        </p:nvSpPr>
        <p:spPr>
          <a:xfrm>
            <a:off x="4736520" y="259704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highlight>
                  <a:srgbClr val="FFAA95"/>
                </a:highlight>
                <a:uFillTx/>
                <a:latin typeface="Calibri"/>
              </a:rPr>
              <a:t>Length bias ₁₂,₁₄,₁₅</a:t>
            </a:r>
            <a:endParaRPr lang="en-US" sz="1200" b="0" u="none" strike="noStrike">
              <a:solidFill>
                <a:srgbClr val="000000"/>
              </a:solidFill>
              <a:effectLst/>
              <a:highlight>
                <a:srgbClr val="FFAA95"/>
              </a:highlight>
              <a:uFillTx/>
              <a:latin typeface="DejaVu Sans"/>
            </a:endParaRPr>
          </a:p>
        </p:txBody>
      </p:sp>
      <p:sp>
        <p:nvSpPr>
          <p:cNvPr id="222" name="Text 28"/>
          <p:cNvSpPr/>
          <p:nvPr/>
        </p:nvSpPr>
        <p:spPr>
          <a:xfrm>
            <a:off x="4736520" y="310896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Generation error accumulation ₁₂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23" name="Text 29"/>
          <p:cNvSpPr/>
          <p:nvPr/>
        </p:nvSpPr>
        <p:spPr>
          <a:xfrm>
            <a:off x="4736520" y="362088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highlight>
                  <a:srgbClr val="FFAA95"/>
                </a:highlight>
                <a:uFillTx/>
                <a:latin typeface="Calibri"/>
              </a:rPr>
              <a:t>Retrieval diversity failure ₂,₃</a:t>
            </a:r>
            <a:endParaRPr lang="en-US" sz="1200" b="0" u="none" strike="noStrike">
              <a:solidFill>
                <a:srgbClr val="000000"/>
              </a:solidFill>
              <a:effectLst/>
              <a:highlight>
                <a:srgbClr val="FFAA95"/>
              </a:highlight>
              <a:uFillTx/>
              <a:latin typeface="DejaVu Sans"/>
            </a:endParaRPr>
          </a:p>
        </p:txBody>
      </p:sp>
      <p:sp>
        <p:nvSpPr>
          <p:cNvPr id="224" name="Text 30"/>
          <p:cNvSpPr/>
          <p:nvPr/>
        </p:nvSpPr>
        <p:spPr>
          <a:xfrm>
            <a:off x="4736520" y="413316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DocID hallucination ₁₄,₁₇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25" name="Shape 31"/>
          <p:cNvSpPr/>
          <p:nvPr/>
        </p:nvSpPr>
        <p:spPr>
          <a:xfrm>
            <a:off x="6839640" y="1097280"/>
            <a:ext cx="2048040" cy="3657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26" name="Shape 32"/>
          <p:cNvSpPr/>
          <p:nvPr/>
        </p:nvSpPr>
        <p:spPr>
          <a:xfrm>
            <a:off x="6839640" y="1097280"/>
            <a:ext cx="2048040" cy="38376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27" name="Text 33"/>
          <p:cNvSpPr/>
          <p:nvPr/>
        </p:nvSpPr>
        <p:spPr>
          <a:xfrm>
            <a:off x="6912720" y="109728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  Response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28" name="Text 34"/>
          <p:cNvSpPr/>
          <p:nvPr/>
        </p:nvSpPr>
        <p:spPr>
          <a:xfrm>
            <a:off x="6931080" y="157284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LLM hallucination ₁₀,₁₁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29" name="Text 35"/>
          <p:cNvSpPr/>
          <p:nvPr/>
        </p:nvSpPr>
        <p:spPr>
          <a:xfrm>
            <a:off x="6931080" y="208476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Context window limits ₄,₁₃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0" name="Text 36"/>
          <p:cNvSpPr/>
          <p:nvPr/>
        </p:nvSpPr>
        <p:spPr>
          <a:xfrm>
            <a:off x="6931080" y="259704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Lost in the Middle ₁₆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1" name="Text 37"/>
          <p:cNvSpPr/>
          <p:nvPr/>
        </p:nvSpPr>
        <p:spPr>
          <a:xfrm>
            <a:off x="6931080" y="310896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Privacy / PII leakage 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2" name="Text 38"/>
          <p:cNvSpPr/>
          <p:nvPr/>
        </p:nvSpPr>
        <p:spPr>
          <a:xfrm>
            <a:off x="6931080" y="362088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Parametric vs. contextual conflict ₁₃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3" name="Text 39"/>
          <p:cNvSpPr/>
          <p:nvPr/>
        </p:nvSpPr>
        <p:spPr>
          <a:xfrm>
            <a:off x="6931080" y="4133160"/>
            <a:ext cx="190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Citation hallucination ₂₈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4" name="Shape 40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35" name="Text 41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6" name="Text 42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10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72440" y="787680"/>
            <a:ext cx="3086280" cy="44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050" b="0" u="none" strike="noStrike">
                <a:solidFill>
                  <a:srgbClr val="000000"/>
                </a:solidFill>
                <a:effectLst/>
                <a:highlight>
                  <a:srgbClr val="FFAA95"/>
                </a:highlight>
                <a:uFillTx/>
                <a:latin typeface="DejaVu Sans"/>
              </a:rPr>
              <a:t>Highlight = Analysis Presented Here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RQ1 — Representation Failures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Failure modes rooted in how documents are identified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255960" y="1115640"/>
            <a:ext cx="8631720" cy="62136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2" name="Shape 4"/>
          <p:cNvSpPr/>
          <p:nvPr/>
        </p:nvSpPr>
        <p:spPr>
          <a:xfrm>
            <a:off x="255960" y="1115640"/>
            <a:ext cx="63720" cy="621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402480" y="116136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Indistinct / Non-Unique DocIDs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402480" y="140832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IVF = "Inverted File Index" or "In Vitro Fertilization" - same identifier but two unrelated documents. In cluster-based DocIDs, "Apple" (company) and "apple" (fruit) can be forced into one cluster.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5" name="Shape 7"/>
          <p:cNvSpPr/>
          <p:nvPr/>
        </p:nvSpPr>
        <p:spPr>
          <a:xfrm>
            <a:off x="255960" y="1837800"/>
            <a:ext cx="8631720" cy="62136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255960" y="1837800"/>
            <a:ext cx="63720" cy="621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402480" y="188352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Tokenization Failures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402480" y="213048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Rare terms like "Zyloprim" split into "Zy-lo-prim" — model assigns low probability to each meaningless subword. Non-Latin scripts up to 10× more tokens per word than English.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9" name="Shape 11"/>
          <p:cNvSpPr/>
          <p:nvPr/>
        </p:nvSpPr>
        <p:spPr>
          <a:xfrm>
            <a:off x="255960" y="2560320"/>
            <a:ext cx="8631720" cy="62136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50" name="Shape 12"/>
          <p:cNvSpPr/>
          <p:nvPr/>
        </p:nvSpPr>
        <p:spPr>
          <a:xfrm>
            <a:off x="255960" y="2560320"/>
            <a:ext cx="63720" cy="621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51" name="Text 13"/>
          <p:cNvSpPr/>
          <p:nvPr/>
        </p:nvSpPr>
        <p:spPr>
          <a:xfrm>
            <a:off x="402480" y="260604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Static DocID Assignment (Non-differentiability)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402480" y="285300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DocIDs fixed before training begins → indexing module cannot receive gradients. Model mimics a fixed index rather than learning optimal representations.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53" name="Shape 15"/>
          <p:cNvSpPr/>
          <p:nvPr/>
        </p:nvSpPr>
        <p:spPr>
          <a:xfrm>
            <a:off x="255960" y="3282840"/>
            <a:ext cx="8631720" cy="62136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54" name="Shape 16"/>
          <p:cNvSpPr/>
          <p:nvPr/>
        </p:nvSpPr>
        <p:spPr>
          <a:xfrm>
            <a:off x="255960" y="3282840"/>
            <a:ext cx="63720" cy="621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55" name="Text 17"/>
          <p:cNvSpPr/>
          <p:nvPr/>
        </p:nvSpPr>
        <p:spPr>
          <a:xfrm>
            <a:off x="402480" y="332856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N-gram Contiguity Constraint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56" name="Text 18"/>
          <p:cNvSpPr/>
          <p:nvPr/>
        </p:nvSpPr>
        <p:spPr>
          <a:xfrm>
            <a:off x="402480" y="357516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For n-gram-based models, n-grams must be strictly contiguous. Intervening tokens break the span. Passage cutoffs also break span.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57" name="Shape 19"/>
          <p:cNvSpPr/>
          <p:nvPr/>
        </p:nvSpPr>
        <p:spPr>
          <a:xfrm>
            <a:off x="255960" y="4005000"/>
            <a:ext cx="8631720" cy="62136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58" name="Shape 20"/>
          <p:cNvSpPr/>
          <p:nvPr/>
        </p:nvSpPr>
        <p:spPr>
          <a:xfrm>
            <a:off x="255960" y="4005000"/>
            <a:ext cx="63720" cy="621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59" name="Text 21"/>
          <p:cNvSpPr/>
          <p:nvPr/>
        </p:nvSpPr>
        <p:spPr>
          <a:xfrm>
            <a:off x="402480" y="405072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Lexical Mismatch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60" name="Text 22"/>
          <p:cNvSpPr/>
          <p:nvPr/>
        </p:nvSpPr>
        <p:spPr>
          <a:xfrm>
            <a:off x="402480" y="429768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Even with parametric knowledge,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query "heart attack" may not trigger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DocID "myocardial infarction" if the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association was not learned during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identifier and model training.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61" name="Shape 23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62" name="Text 24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63" name="Text 25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11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RQ1 — Training Failures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Failure modes emerging from how models are trained and updated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255960" y="1115640"/>
            <a:ext cx="8631720" cy="5299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255960" y="1115640"/>
            <a:ext cx="63720" cy="5299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402480" y="116136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Catastrophic Forgetting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402480" y="1389960"/>
            <a:ext cx="804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Sequential indexing of new documents causes &gt;25pt accuracy drop on original corpus. ~88% of documents experience at least one forgetting event during training.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255960" y="1746360"/>
            <a:ext cx="8631720" cy="5299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255960" y="1746360"/>
            <a:ext cx="63720" cy="5299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402480" y="17920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Dynamic Corpus / Deletion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402480" y="2020680"/>
            <a:ext cx="804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New docs unavailable until full retraining. Deleted docs remain in model weights → privacy and compliance risk. Unlike dense retrieval which can re-index instantly.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75" name="Shape 11"/>
          <p:cNvSpPr/>
          <p:nvPr/>
        </p:nvSpPr>
        <p:spPr>
          <a:xfrm>
            <a:off x="255960" y="2377440"/>
            <a:ext cx="8631720" cy="5299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255960" y="2377440"/>
            <a:ext cx="63720" cy="5299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402480" y="242316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Western-Centric Bias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402480" y="2651760"/>
            <a:ext cx="804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BART trained on English Wikipedia + BookCorpus → implicitly defaults to US/European context. T5 similarly. Query 'the capital' may assume USA. NQ and MSMARCO are also Eurocentric.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79" name="Shape 15"/>
          <p:cNvSpPr/>
          <p:nvPr/>
        </p:nvSpPr>
        <p:spPr>
          <a:xfrm>
            <a:off x="255960" y="3008520"/>
            <a:ext cx="8631720" cy="5299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80" name="Shape 16"/>
          <p:cNvSpPr/>
          <p:nvPr/>
        </p:nvSpPr>
        <p:spPr>
          <a:xfrm>
            <a:off x="255960" y="3008520"/>
            <a:ext cx="63720" cy="5299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81" name="Text 17"/>
          <p:cNvSpPr/>
          <p:nvPr/>
        </p:nvSpPr>
        <p:spPr>
          <a:xfrm>
            <a:off x="402480" y="30542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Zero-Shot Failure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82" name="Text 18"/>
          <p:cNvSpPr/>
          <p:nvPr/>
        </p:nvSpPr>
        <p:spPr>
          <a:xfrm>
            <a:off x="402480" y="3282840"/>
            <a:ext cx="804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Models trained on NQ perform well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on NQ-like queries but degrade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sharply on OOD distributions. NCI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drops from 71.2 to 27.7 R@100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when evaluated on unseen queries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83" name="Shape 19"/>
          <p:cNvSpPr/>
          <p:nvPr/>
        </p:nvSpPr>
        <p:spPr>
          <a:xfrm>
            <a:off x="255960" y="3639240"/>
            <a:ext cx="8631720" cy="5299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84" name="Shape 20"/>
          <p:cNvSpPr/>
          <p:nvPr/>
        </p:nvSpPr>
        <p:spPr>
          <a:xfrm>
            <a:off x="255960" y="3639240"/>
            <a:ext cx="63720" cy="5299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402480" y="368496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Capacity Limits at Scale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402480" y="3913560"/>
            <a:ext cx="804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DSI MRR@10 drops from 80.3 (100k corpus) to 24.2 (8.8M corpus). Adding 8.8M atomic DocIDs adds ~6.8B parameters to output layer alone.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87" name="Shape 23"/>
          <p:cNvSpPr/>
          <p:nvPr/>
        </p:nvSpPr>
        <p:spPr>
          <a:xfrm>
            <a:off x="255960" y="4270320"/>
            <a:ext cx="8631720" cy="5299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88" name="Shape 24"/>
          <p:cNvSpPr/>
          <p:nvPr/>
        </p:nvSpPr>
        <p:spPr>
          <a:xfrm>
            <a:off x="255960" y="4270320"/>
            <a:ext cx="63720" cy="529920"/>
          </a:xfrm>
          <a:prstGeom prst="rect">
            <a:avLst/>
          </a:prstGeom>
          <a:solidFill>
            <a:srgbClr val="2A9DAF"/>
          </a:solidFill>
          <a:ln w="12600">
            <a:solidFill>
              <a:srgbClr val="2A9D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89" name="Text 25"/>
          <p:cNvSpPr/>
          <p:nvPr/>
        </p:nvSpPr>
        <p:spPr>
          <a:xfrm>
            <a:off x="402480" y="43160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Distillation / Teacher Bias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0" name="Text 26"/>
          <p:cNvSpPr/>
          <p:nvPr/>
        </p:nvSpPr>
        <p:spPr>
          <a:xfrm>
            <a:off x="402480" y="4544640"/>
            <a:ext cx="804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If cross-encoder teacher is used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and misranks a document, the GR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student bakes that error into its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weights. Teacher errors become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quasi-structural biases.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1" name="Shape 27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92" name="Text 28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3" name="Text 29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12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RQ1 — Inference Failures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Failure modes during autoregressive DocID generation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255960" y="1115640"/>
            <a:ext cx="4205880" cy="1115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8" name="Shape 4"/>
          <p:cNvSpPr/>
          <p:nvPr/>
        </p:nvSpPr>
        <p:spPr>
          <a:xfrm>
            <a:off x="255960" y="1115640"/>
            <a:ext cx="63720" cy="1115280"/>
          </a:xfrm>
          <a:prstGeom prst="rect">
            <a:avLst/>
          </a:prstGeom>
          <a:solidFill>
            <a:srgbClr val="E8A838"/>
          </a:solidFill>
          <a:ln w="126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9" name="Text 5"/>
          <p:cNvSpPr/>
          <p:nvPr/>
        </p:nvSpPr>
        <p:spPr>
          <a:xfrm>
            <a:off x="402480" y="118872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False Pruning (Beam Search)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402480" y="1463040"/>
            <a:ext cx="3968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Beam search discards a DocID prefix if its cumulative probability lags competitors, even if subsequent tokens would have been correct. Once pruned, the path is irrecoverable.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1" name="Shape 7"/>
          <p:cNvSpPr/>
          <p:nvPr/>
        </p:nvSpPr>
        <p:spPr>
          <a:xfrm>
            <a:off x="255960" y="2377440"/>
            <a:ext cx="4205880" cy="1115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255960" y="2377440"/>
            <a:ext cx="63720" cy="1115280"/>
          </a:xfrm>
          <a:prstGeom prst="rect">
            <a:avLst/>
          </a:prstGeom>
          <a:solidFill>
            <a:srgbClr val="E8A838"/>
          </a:solidFill>
          <a:ln w="126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3" name="Text 9"/>
          <p:cNvSpPr/>
          <p:nvPr/>
        </p:nvSpPr>
        <p:spPr>
          <a:xfrm>
            <a:off x="402480" y="245052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Length Bias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4" name="Text 10"/>
          <p:cNvSpPr/>
          <p:nvPr/>
        </p:nvSpPr>
        <p:spPr>
          <a:xfrm>
            <a:off x="402480" y="2724840"/>
            <a:ext cx="3968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Token probabilities are multiplicative. Each extra token shrinks total sequence probability, drowning out precise identifiers.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5" name="Shape 11"/>
          <p:cNvSpPr/>
          <p:nvPr/>
        </p:nvSpPr>
        <p:spPr>
          <a:xfrm>
            <a:off x="255960" y="3639240"/>
            <a:ext cx="4205880" cy="1115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6" name="Shape 12"/>
          <p:cNvSpPr/>
          <p:nvPr/>
        </p:nvSpPr>
        <p:spPr>
          <a:xfrm>
            <a:off x="255960" y="3639240"/>
            <a:ext cx="63720" cy="1115280"/>
          </a:xfrm>
          <a:prstGeom prst="rect">
            <a:avLst/>
          </a:prstGeom>
          <a:solidFill>
            <a:srgbClr val="E8A838"/>
          </a:solidFill>
          <a:ln w="126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7" name="Text 13"/>
          <p:cNvSpPr/>
          <p:nvPr/>
        </p:nvSpPr>
        <p:spPr>
          <a:xfrm>
            <a:off x="402480" y="371232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Generation Error Accumulation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402480" y="3986640"/>
            <a:ext cx="3968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Error rate rises from ~1% at position 1 to &gt;12% by position 6. Model 'loses its train of thought' generating long DocID sequences.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9" name="Shape 15"/>
          <p:cNvSpPr/>
          <p:nvPr/>
        </p:nvSpPr>
        <p:spPr>
          <a:xfrm>
            <a:off x="4681800" y="1115640"/>
            <a:ext cx="4205880" cy="1115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0" name="Shape 16"/>
          <p:cNvSpPr/>
          <p:nvPr/>
        </p:nvSpPr>
        <p:spPr>
          <a:xfrm>
            <a:off x="4681800" y="1115640"/>
            <a:ext cx="63720" cy="1115280"/>
          </a:xfrm>
          <a:prstGeom prst="rect">
            <a:avLst/>
          </a:prstGeom>
          <a:solidFill>
            <a:srgbClr val="E8A838"/>
          </a:solidFill>
          <a:ln w="126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1" name="Text 17"/>
          <p:cNvSpPr/>
          <p:nvPr/>
        </p:nvSpPr>
        <p:spPr>
          <a:xfrm>
            <a:off x="4827960" y="118872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Retrieval Diversity Failure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4827960" y="1463040"/>
            <a:ext cx="3968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Ambiguous queries (e.g. 'What is IVF?') can return topically redundant passages all targeting one interpretation, ignoring others.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3" name="Shape 19"/>
          <p:cNvSpPr/>
          <p:nvPr/>
        </p:nvSpPr>
        <p:spPr>
          <a:xfrm>
            <a:off x="4681800" y="2377440"/>
            <a:ext cx="4205880" cy="1115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4" name="Shape 20"/>
          <p:cNvSpPr/>
          <p:nvPr/>
        </p:nvSpPr>
        <p:spPr>
          <a:xfrm>
            <a:off x="4681800" y="2377440"/>
            <a:ext cx="63720" cy="1115280"/>
          </a:xfrm>
          <a:prstGeom prst="rect">
            <a:avLst/>
          </a:prstGeom>
          <a:solidFill>
            <a:srgbClr val="E8A838"/>
          </a:solidFill>
          <a:ln w="126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5" name="Text 21"/>
          <p:cNvSpPr/>
          <p:nvPr/>
        </p:nvSpPr>
        <p:spPr>
          <a:xfrm>
            <a:off x="4827960" y="245052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DocID Hallucination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6" name="Text 22"/>
          <p:cNvSpPr/>
          <p:nvPr/>
        </p:nvSpPr>
        <p:spPr>
          <a:xfrm>
            <a:off x="4827960" y="2724840"/>
            <a:ext cx="3968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Without constraints, model generates DocIDs not present in corpus. Mitigated in practice via FM-Index or Trie. Some methods use intentional pseudoquery hallucination.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7" name="Shape 23"/>
          <p:cNvSpPr/>
          <p:nvPr/>
        </p:nvSpPr>
        <p:spPr>
          <a:xfrm>
            <a:off x="4681800" y="3639240"/>
            <a:ext cx="4205880" cy="111528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8" name="Shape 24"/>
          <p:cNvSpPr/>
          <p:nvPr/>
        </p:nvSpPr>
        <p:spPr>
          <a:xfrm>
            <a:off x="4681800" y="3639240"/>
            <a:ext cx="63720" cy="1115280"/>
          </a:xfrm>
          <a:prstGeom prst="rect">
            <a:avLst/>
          </a:prstGeom>
          <a:solidFill>
            <a:srgbClr val="E8A838"/>
          </a:solidFill>
          <a:ln w="126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9" name="Text 25"/>
          <p:cNvSpPr/>
          <p:nvPr/>
        </p:nvSpPr>
        <p:spPr>
          <a:xfrm>
            <a:off x="4827960" y="371232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Inference Latency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20" name="Text 26"/>
          <p:cNvSpPr/>
          <p:nvPr/>
        </p:nvSpPr>
        <p:spPr>
          <a:xfrm>
            <a:off x="4827960" y="3986640"/>
            <a:ext cx="39682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Token-by-token autoregressive generation is FLOP-intensive. Scales poorly with beam size and sequence length vs. simple vector lookups in DR/SR.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21" name="Shape 27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22" name="Text 28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23" name="Text 29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13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RQ1 — Response Generation Failures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26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Post-retrieval failures in the RAG / answer synthesis stage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255960" y="1005840"/>
            <a:ext cx="8631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Note: these failures belong to the response generation (RAG) stage, not core GR, but included for a complete taxonomy.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28" name="Shape 4"/>
          <p:cNvSpPr/>
          <p:nvPr/>
        </p:nvSpPr>
        <p:spPr>
          <a:xfrm>
            <a:off x="255960" y="1316880"/>
            <a:ext cx="4224240" cy="106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29" name="Shape 5"/>
          <p:cNvSpPr/>
          <p:nvPr/>
        </p:nvSpPr>
        <p:spPr>
          <a:xfrm>
            <a:off x="255960" y="1316880"/>
            <a:ext cx="63720" cy="106020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402480" y="1389960"/>
            <a:ext cx="3986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LLM Hallucination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402480" y="1664280"/>
            <a:ext cx="3986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Summarizer generates information absent from retrieved passages, relying on parametric knowledge instead.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32" name="Shape 8"/>
          <p:cNvSpPr/>
          <p:nvPr/>
        </p:nvSpPr>
        <p:spPr>
          <a:xfrm>
            <a:off x="4681800" y="1316880"/>
            <a:ext cx="4224240" cy="106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33" name="Shape 9"/>
          <p:cNvSpPr/>
          <p:nvPr/>
        </p:nvSpPr>
        <p:spPr>
          <a:xfrm>
            <a:off x="4681800" y="1316880"/>
            <a:ext cx="63720" cy="106020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34" name="Text 10"/>
          <p:cNvSpPr/>
          <p:nvPr/>
        </p:nvSpPr>
        <p:spPr>
          <a:xfrm>
            <a:off x="4827960" y="1389960"/>
            <a:ext cx="3986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Context Window Limits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35" name="Text 11"/>
          <p:cNvSpPr/>
          <p:nvPr/>
        </p:nvSpPr>
        <p:spPr>
          <a:xfrm>
            <a:off x="4827960" y="1664280"/>
            <a:ext cx="3986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Query requiring 20 sources gets truncated at document 5, so information is discarded.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36" name="Shape 12"/>
          <p:cNvSpPr/>
          <p:nvPr/>
        </p:nvSpPr>
        <p:spPr>
          <a:xfrm>
            <a:off x="255960" y="2505600"/>
            <a:ext cx="4224240" cy="106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37" name="Shape 13"/>
          <p:cNvSpPr/>
          <p:nvPr/>
        </p:nvSpPr>
        <p:spPr>
          <a:xfrm>
            <a:off x="255960" y="2505600"/>
            <a:ext cx="63720" cy="106020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38" name="Text 14"/>
          <p:cNvSpPr/>
          <p:nvPr/>
        </p:nvSpPr>
        <p:spPr>
          <a:xfrm>
            <a:off x="402480" y="2578680"/>
            <a:ext cx="3986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Lost in the Middle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39" name="Text 15"/>
          <p:cNvSpPr/>
          <p:nvPr/>
        </p:nvSpPr>
        <p:spPr>
          <a:xfrm>
            <a:off x="402480" y="2853000"/>
            <a:ext cx="3986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LLMs over-weigh information at beginning and end of context, ignoring middle documents regardless of relevance.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40" name="Shape 16"/>
          <p:cNvSpPr/>
          <p:nvPr/>
        </p:nvSpPr>
        <p:spPr>
          <a:xfrm>
            <a:off x="4681800" y="2505600"/>
            <a:ext cx="4224240" cy="106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41" name="Shape 17"/>
          <p:cNvSpPr/>
          <p:nvPr/>
        </p:nvSpPr>
        <p:spPr>
          <a:xfrm>
            <a:off x="4681800" y="2505600"/>
            <a:ext cx="63720" cy="106020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42" name="Text 18"/>
          <p:cNvSpPr/>
          <p:nvPr/>
        </p:nvSpPr>
        <p:spPr>
          <a:xfrm>
            <a:off x="4827960" y="2578680"/>
            <a:ext cx="3986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Parametric vs. Contextual Conflict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43" name="Text 19"/>
          <p:cNvSpPr/>
          <p:nvPr/>
        </p:nvSpPr>
        <p:spPr>
          <a:xfrm>
            <a:off x="4827960" y="2853000"/>
            <a:ext cx="3986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Retrieved doc says "Chancellor is Christian Stocker" but LM weights say "Karl Nehammer", model may trust outdated weights.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44" name="Shape 20"/>
          <p:cNvSpPr/>
          <p:nvPr/>
        </p:nvSpPr>
        <p:spPr>
          <a:xfrm>
            <a:off x="255960" y="3694320"/>
            <a:ext cx="4224240" cy="106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45" name="Shape 21"/>
          <p:cNvSpPr/>
          <p:nvPr/>
        </p:nvSpPr>
        <p:spPr>
          <a:xfrm>
            <a:off x="255960" y="3694320"/>
            <a:ext cx="63720" cy="106020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46" name="Text 22"/>
          <p:cNvSpPr/>
          <p:nvPr/>
        </p:nvSpPr>
        <p:spPr>
          <a:xfrm>
            <a:off x="402480" y="3767400"/>
            <a:ext cx="3986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Citation Hallucination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47" name="Text 23"/>
          <p:cNvSpPr/>
          <p:nvPr/>
        </p:nvSpPr>
        <p:spPr>
          <a:xfrm>
            <a:off x="402480" y="4041720"/>
            <a:ext cx="3986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Model claims "sky is blue [Doc 2]" but the fact is actually from Doc 1. Hurts verifiability and user satisfaction.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48" name="Shape 24"/>
          <p:cNvSpPr/>
          <p:nvPr/>
        </p:nvSpPr>
        <p:spPr>
          <a:xfrm>
            <a:off x="4681800" y="3694320"/>
            <a:ext cx="4224240" cy="106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49" name="Shape 25"/>
          <p:cNvSpPr/>
          <p:nvPr/>
        </p:nvSpPr>
        <p:spPr>
          <a:xfrm>
            <a:off x="4681800" y="3694320"/>
            <a:ext cx="63720" cy="106020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50" name="Text 26"/>
          <p:cNvSpPr/>
          <p:nvPr/>
        </p:nvSpPr>
        <p:spPr>
          <a:xfrm>
            <a:off x="4827960" y="3767400"/>
            <a:ext cx="3986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Privacy / PII Leakage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51" name="Text 27"/>
          <p:cNvSpPr/>
          <p:nvPr/>
        </p:nvSpPr>
        <p:spPr>
          <a:xfrm>
            <a:off x="4827960" y="4041720"/>
            <a:ext cx="3986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Query about address formats returns a real memorized home address from training data → compliance challenge.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52" name="Shape 28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53" name="Text 29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54" name="Text 30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14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0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56" name="Shape 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0F1D30"/>
          </a:solidFill>
          <a:ln w="12600">
            <a:solidFill>
              <a:srgbClr val="0F1D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57" name="Text 2"/>
          <p:cNvSpPr/>
          <p:nvPr/>
        </p:nvSpPr>
        <p:spPr>
          <a:xfrm>
            <a:off x="640080" y="45720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58" name="Text 3"/>
          <p:cNvSpPr/>
          <p:nvPr/>
        </p:nvSpPr>
        <p:spPr>
          <a:xfrm>
            <a:off x="640080" y="1005840"/>
            <a:ext cx="7772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RQ2 — Empirical Analysis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59" name="Text 4"/>
          <p:cNvSpPr/>
          <p:nvPr/>
        </p:nvSpPr>
        <p:spPr>
          <a:xfrm>
            <a:off x="640080" y="274320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8CB0C5"/>
                </a:solidFill>
                <a:effectLst/>
                <a:uFillTx/>
                <a:latin typeface="Calibri"/>
              </a:rPr>
              <a:t>N-gram GR failures: when and how do they occur?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61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RQ2 — Methodology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62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63" name="Shape 3"/>
          <p:cNvSpPr/>
          <p:nvPr/>
        </p:nvSpPr>
        <p:spPr>
          <a:xfrm>
            <a:off x="215640" y="822960"/>
            <a:ext cx="2834280" cy="3145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64" name="Shape 4"/>
          <p:cNvSpPr/>
          <p:nvPr/>
        </p:nvSpPr>
        <p:spPr>
          <a:xfrm>
            <a:off x="215640" y="822960"/>
            <a:ext cx="2834280" cy="54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65" name="Text 5"/>
          <p:cNvSpPr/>
          <p:nvPr/>
        </p:nvSpPr>
        <p:spPr>
          <a:xfrm>
            <a:off x="343800" y="896040"/>
            <a:ext cx="257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Output Data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66" name="Text 6"/>
          <p:cNvSpPr/>
          <p:nvPr/>
        </p:nvSpPr>
        <p:spPr>
          <a:xfrm>
            <a:off x="325440" y="137160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Top-100 retrieved passages per query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67" name="Text 7"/>
          <p:cNvSpPr/>
          <p:nvPr/>
        </p:nvSpPr>
        <p:spPr>
          <a:xfrm>
            <a:off x="325440" y="190188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Matched n-gram identifiers &amp; scores to passages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68" name="Text 8"/>
          <p:cNvSpPr/>
          <p:nvPr/>
        </p:nvSpPr>
        <p:spPr>
          <a:xfrm>
            <a:off x="325440" y="243216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69" name="Text 9"/>
          <p:cNvSpPr/>
          <p:nvPr/>
        </p:nvSpPr>
        <p:spPr>
          <a:xfrm>
            <a:off x="325440" y="253080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Annotated ground-truth passages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70" name="Text 10"/>
          <p:cNvSpPr/>
          <p:nvPr/>
        </p:nvSpPr>
        <p:spPr>
          <a:xfrm>
            <a:off x="325440" y="302508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Query &amp; answer strings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71" name="Shape 11"/>
          <p:cNvSpPr/>
          <p:nvPr/>
        </p:nvSpPr>
        <p:spPr>
          <a:xfrm>
            <a:off x="3205800" y="822960"/>
            <a:ext cx="2834280" cy="3145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72" name="Shape 12"/>
          <p:cNvSpPr/>
          <p:nvPr/>
        </p:nvSpPr>
        <p:spPr>
          <a:xfrm>
            <a:off x="3205800" y="822960"/>
            <a:ext cx="2834280" cy="54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73" name="Text 13"/>
          <p:cNvSpPr/>
          <p:nvPr/>
        </p:nvSpPr>
        <p:spPr>
          <a:xfrm>
            <a:off x="3333960" y="896040"/>
            <a:ext cx="257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Key Signals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74" name="Text 14"/>
          <p:cNvSpPr/>
          <p:nvPr/>
        </p:nvSpPr>
        <p:spPr>
          <a:xfrm>
            <a:off x="3315600" y="137160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N-gram corpus frequency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75" name="Text 15"/>
          <p:cNvSpPr/>
          <p:nvPr/>
        </p:nvSpPr>
        <p:spPr>
          <a:xfrm>
            <a:off x="3315600" y="190188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N-gram length (unigrams vs. multi-token)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76" name="Text 16"/>
          <p:cNvSpPr/>
          <p:nvPr/>
        </p:nvSpPr>
        <p:spPr>
          <a:xfrm>
            <a:off x="3315600" y="243216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Title vs. body vs. pseudoquery score share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77" name="Text 17"/>
          <p:cNvSpPr/>
          <p:nvPr/>
        </p:nvSpPr>
        <p:spPr>
          <a:xfrm>
            <a:off x="3315600" y="296280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Lexical query–ngram overlap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78" name="Text 18"/>
          <p:cNvSpPr/>
          <p:nvPr/>
        </p:nvSpPr>
        <p:spPr>
          <a:xfrm>
            <a:off x="3315600" y="349308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Token diversity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79" name="Shape 19"/>
          <p:cNvSpPr/>
          <p:nvPr/>
        </p:nvSpPr>
        <p:spPr>
          <a:xfrm>
            <a:off x="6195960" y="822960"/>
            <a:ext cx="2834280" cy="31453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0" name="Shape 20"/>
          <p:cNvSpPr/>
          <p:nvPr/>
        </p:nvSpPr>
        <p:spPr>
          <a:xfrm>
            <a:off x="6195960" y="822960"/>
            <a:ext cx="2834280" cy="54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81" name="Text 21"/>
          <p:cNvSpPr/>
          <p:nvPr/>
        </p:nvSpPr>
        <p:spPr>
          <a:xfrm>
            <a:off x="6323760" y="896040"/>
            <a:ext cx="257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Metrics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2" name="Text 22"/>
          <p:cNvSpPr/>
          <p:nvPr/>
        </p:nvSpPr>
        <p:spPr>
          <a:xfrm>
            <a:off x="6305760" y="137160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Hits@1, @10, @100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3" name="Text 23"/>
          <p:cNvSpPr/>
          <p:nvPr/>
        </p:nvSpPr>
        <p:spPr>
          <a:xfrm>
            <a:off x="6305760" y="190188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MRR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4" name="Text 24"/>
          <p:cNvSpPr/>
          <p:nvPr/>
        </p:nvSpPr>
        <p:spPr>
          <a:xfrm>
            <a:off x="6305760" y="243216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nDCG@10, nDCG@100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5" name="Text 25"/>
          <p:cNvSpPr/>
          <p:nvPr/>
        </p:nvSpPr>
        <p:spPr>
          <a:xfrm>
            <a:off x="6305760" y="296280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Recall@10, @100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6" name="Text 26"/>
          <p:cNvSpPr/>
          <p:nvPr/>
        </p:nvSpPr>
        <p:spPr>
          <a:xfrm>
            <a:off x="6305760" y="3493080"/>
            <a:ext cx="2633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 Spearman ρ correlations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7" name="Shape 27"/>
          <p:cNvSpPr/>
          <p:nvPr/>
        </p:nvSpPr>
        <p:spPr>
          <a:xfrm>
            <a:off x="215640" y="4046400"/>
            <a:ext cx="1938240" cy="822600"/>
          </a:xfrm>
          <a:prstGeom prst="rect">
            <a:avLst/>
          </a:prstGeom>
          <a:solidFill>
            <a:srgbClr val="FFFFFF"/>
          </a:solidFill>
          <a:ln w="25560">
            <a:solidFill>
              <a:srgbClr val="1D7A8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8" name="Shape 28"/>
          <p:cNvSpPr/>
          <p:nvPr/>
        </p:nvSpPr>
        <p:spPr>
          <a:xfrm>
            <a:off x="215640" y="4046400"/>
            <a:ext cx="1938240" cy="54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89" name="Text 29"/>
          <p:cNvSpPr/>
          <p:nvPr/>
        </p:nvSpPr>
        <p:spPr>
          <a:xfrm>
            <a:off x="215640" y="4156200"/>
            <a:ext cx="193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6,515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90" name="Text 30"/>
          <p:cNvSpPr/>
          <p:nvPr/>
        </p:nvSpPr>
        <p:spPr>
          <a:xfrm>
            <a:off x="288720" y="4556520"/>
            <a:ext cx="17917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NQ queries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91" name="Shape 31"/>
          <p:cNvSpPr/>
          <p:nvPr/>
        </p:nvSpPr>
        <p:spPr>
          <a:xfrm>
            <a:off x="2410200" y="4046400"/>
            <a:ext cx="1938240" cy="822600"/>
          </a:xfrm>
          <a:prstGeom prst="rect">
            <a:avLst/>
          </a:prstGeom>
          <a:solidFill>
            <a:srgbClr val="FFFFFF"/>
          </a:solidFill>
          <a:ln w="25560">
            <a:solidFill>
              <a:srgbClr val="1D7A8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92" name="Shape 32"/>
          <p:cNvSpPr/>
          <p:nvPr/>
        </p:nvSpPr>
        <p:spPr>
          <a:xfrm>
            <a:off x="2410200" y="4046400"/>
            <a:ext cx="1938240" cy="54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93" name="Text 33"/>
          <p:cNvSpPr/>
          <p:nvPr/>
        </p:nvSpPr>
        <p:spPr>
          <a:xfrm>
            <a:off x="2410200" y="4156200"/>
            <a:ext cx="193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6,980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94" name="Text 34"/>
          <p:cNvSpPr/>
          <p:nvPr/>
        </p:nvSpPr>
        <p:spPr>
          <a:xfrm>
            <a:off x="2483280" y="4556520"/>
            <a:ext cx="17917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MSMARCO queries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95" name="Shape 35"/>
          <p:cNvSpPr/>
          <p:nvPr/>
        </p:nvSpPr>
        <p:spPr>
          <a:xfrm>
            <a:off x="4604760" y="4046400"/>
            <a:ext cx="1938240" cy="822600"/>
          </a:xfrm>
          <a:prstGeom prst="rect">
            <a:avLst/>
          </a:prstGeom>
          <a:solidFill>
            <a:srgbClr val="FFFFFF"/>
          </a:solidFill>
          <a:ln w="25560">
            <a:solidFill>
              <a:srgbClr val="1D7A8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96" name="Shape 36"/>
          <p:cNvSpPr/>
          <p:nvPr/>
        </p:nvSpPr>
        <p:spPr>
          <a:xfrm>
            <a:off x="4604760" y="4046400"/>
            <a:ext cx="1938240" cy="54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97" name="Text 37"/>
          <p:cNvSpPr/>
          <p:nvPr/>
        </p:nvSpPr>
        <p:spPr>
          <a:xfrm>
            <a:off x="4604760" y="4156200"/>
            <a:ext cx="193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1M+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98" name="Text 38"/>
          <p:cNvSpPr/>
          <p:nvPr/>
        </p:nvSpPr>
        <p:spPr>
          <a:xfrm>
            <a:off x="4677840" y="4556520"/>
            <a:ext cx="17917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Passages analyzed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99" name="Shape 39"/>
          <p:cNvSpPr/>
          <p:nvPr/>
        </p:nvSpPr>
        <p:spPr>
          <a:xfrm>
            <a:off x="6799320" y="4046400"/>
            <a:ext cx="1938240" cy="822600"/>
          </a:xfrm>
          <a:prstGeom prst="rect">
            <a:avLst/>
          </a:prstGeom>
          <a:solidFill>
            <a:srgbClr val="FFFFFF"/>
          </a:solidFill>
          <a:ln w="25560">
            <a:solidFill>
              <a:srgbClr val="1D7A8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00" name="Shape 40"/>
          <p:cNvSpPr/>
          <p:nvPr/>
        </p:nvSpPr>
        <p:spPr>
          <a:xfrm>
            <a:off x="6799320" y="4046400"/>
            <a:ext cx="1938240" cy="54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01" name="Text 41"/>
          <p:cNvSpPr/>
          <p:nvPr/>
        </p:nvSpPr>
        <p:spPr>
          <a:xfrm>
            <a:off x="6799320" y="4156200"/>
            <a:ext cx="193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02" name="Text 42"/>
          <p:cNvSpPr/>
          <p:nvPr/>
        </p:nvSpPr>
        <p:spPr>
          <a:xfrm>
            <a:off x="6872400" y="4556520"/>
            <a:ext cx="17917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Models compared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03" name="Shape 43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04" name="Text 44"/>
          <p:cNvSpPr/>
          <p:nvPr/>
        </p:nvSpPr>
        <p:spPr>
          <a:xfrm>
            <a:off x="215640" y="469440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05" name="Text 45"/>
          <p:cNvSpPr/>
          <p:nvPr/>
        </p:nvSpPr>
        <p:spPr>
          <a:xfrm>
            <a:off x="8646480" y="47001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16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07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RQ2 · Non-Discriminative DocIDs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08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Model relies on generic n-grams, triangulating instead of identifying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09" name="Shape 3"/>
          <p:cNvSpPr/>
          <p:nvPr/>
        </p:nvSpPr>
        <p:spPr>
          <a:xfrm>
            <a:off x="255960" y="1115640"/>
            <a:ext cx="3110040" cy="3657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10" name="Text 4"/>
          <p:cNvSpPr/>
          <p:nvPr/>
        </p:nvSpPr>
        <p:spPr>
          <a:xfrm>
            <a:off x="402480" y="120708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11" name="Text 5"/>
          <p:cNvSpPr/>
          <p:nvPr/>
        </p:nvSpPr>
        <p:spPr>
          <a:xfrm>
            <a:off x="402480" y="906480"/>
            <a:ext cx="2827440" cy="20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The model generates generic words matching thousands of passages rather than pinpointing the correct one. Forces the model to 'triangulate' from common n-grams instead of directly generating a discriminative identifier.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Deciles created by taking each queries’ top result’s the top-5 highest scored (= highest weighted) n-grams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12" name="Shape 6"/>
          <p:cNvSpPr/>
          <p:nvPr/>
        </p:nvSpPr>
        <p:spPr>
          <a:xfrm>
            <a:off x="717480" y="2888640"/>
            <a:ext cx="1013040" cy="849960"/>
          </a:xfrm>
          <a:prstGeom prst="rect">
            <a:avLst/>
          </a:prstGeom>
          <a:solidFill>
            <a:srgbClr val="FFFFFF"/>
          </a:solidFill>
          <a:ln w="25560">
            <a:solidFill>
              <a:srgbClr val="1D7A8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13" name="Shape 7"/>
          <p:cNvSpPr/>
          <p:nvPr/>
        </p:nvSpPr>
        <p:spPr>
          <a:xfrm>
            <a:off x="717480" y="2888640"/>
            <a:ext cx="1013040" cy="313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320" rIns="90000" bIns="-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14" name="Text 8"/>
          <p:cNvSpPr/>
          <p:nvPr/>
        </p:nvSpPr>
        <p:spPr>
          <a:xfrm>
            <a:off x="717480" y="2951640"/>
            <a:ext cx="1013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A9DAF"/>
                </a:solidFill>
                <a:effectLst/>
                <a:uFillTx/>
                <a:latin typeface="Calibri"/>
              </a:rPr>
              <a:t>28,753</a:t>
            </a:r>
            <a:endParaRPr lang="en-US" sz="1800" b="0" u="none" strike="noStrike">
              <a:solidFill>
                <a:srgbClr val="2A9DAF"/>
              </a:solidFill>
              <a:effectLst/>
              <a:uFillTx/>
              <a:latin typeface="DejaVu Sans"/>
            </a:endParaRPr>
          </a:p>
        </p:txBody>
      </p:sp>
      <p:sp>
        <p:nvSpPr>
          <p:cNvPr id="415" name="Text 9"/>
          <p:cNvSpPr/>
          <p:nvPr/>
        </p:nvSpPr>
        <p:spPr>
          <a:xfrm>
            <a:off x="773640" y="3415680"/>
            <a:ext cx="9003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SEAL avg. top-5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n-gram freq. (NQ)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16" name="Shape 10"/>
          <p:cNvSpPr/>
          <p:nvPr/>
        </p:nvSpPr>
        <p:spPr>
          <a:xfrm>
            <a:off x="1843200" y="2888640"/>
            <a:ext cx="1013040" cy="849960"/>
          </a:xfrm>
          <a:prstGeom prst="rect">
            <a:avLst/>
          </a:prstGeom>
          <a:solidFill>
            <a:srgbClr val="FFFFFF"/>
          </a:solidFill>
          <a:ln w="25560">
            <a:solidFill>
              <a:srgbClr val="FFBF0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17" name="Shape 11"/>
          <p:cNvSpPr/>
          <p:nvPr/>
        </p:nvSpPr>
        <p:spPr>
          <a:xfrm>
            <a:off x="1843200" y="2888640"/>
            <a:ext cx="1013040" cy="31320"/>
          </a:xfrm>
          <a:prstGeom prst="rect">
            <a:avLst/>
          </a:prstGeom>
          <a:solidFill>
            <a:srgbClr val="FFBF00"/>
          </a:solidFill>
          <a:ln w="12600">
            <a:solidFill>
              <a:srgbClr val="FFB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320" rIns="90000" bIns="-13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18" name="Text 12"/>
          <p:cNvSpPr/>
          <p:nvPr/>
        </p:nvSpPr>
        <p:spPr>
          <a:xfrm>
            <a:off x="1843200" y="2951640"/>
            <a:ext cx="1013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A9DAF"/>
                </a:solidFill>
                <a:effectLst/>
                <a:uFillTx/>
                <a:latin typeface="Calibri"/>
              </a:rPr>
              <a:t>21,310</a:t>
            </a:r>
            <a:endParaRPr lang="en-US" sz="1800" b="0" u="none" strike="noStrike">
              <a:solidFill>
                <a:srgbClr val="2A9DAF"/>
              </a:solidFill>
              <a:effectLst/>
              <a:uFillTx/>
              <a:latin typeface="DejaVu Sans"/>
            </a:endParaRPr>
          </a:p>
        </p:txBody>
      </p:sp>
      <p:sp>
        <p:nvSpPr>
          <p:cNvPr id="419" name="Text 13"/>
          <p:cNvSpPr/>
          <p:nvPr/>
        </p:nvSpPr>
        <p:spPr>
          <a:xfrm>
            <a:off x="1899360" y="3415680"/>
            <a:ext cx="9003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MINDER avg. top-5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n-gram freq. (NQ)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20" name="Shape 14"/>
          <p:cNvSpPr/>
          <p:nvPr/>
        </p:nvSpPr>
        <p:spPr>
          <a:xfrm>
            <a:off x="1321560" y="3850560"/>
            <a:ext cx="1013040" cy="849960"/>
          </a:xfrm>
          <a:prstGeom prst="rect">
            <a:avLst/>
          </a:prstGeom>
          <a:solidFill>
            <a:srgbClr val="FFFFFF"/>
          </a:solidFill>
          <a:ln w="25560">
            <a:solidFill>
              <a:srgbClr val="81D41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21" name="Shape 15"/>
          <p:cNvSpPr/>
          <p:nvPr/>
        </p:nvSpPr>
        <p:spPr>
          <a:xfrm>
            <a:off x="1321560" y="3850560"/>
            <a:ext cx="1013040" cy="31320"/>
          </a:xfrm>
          <a:prstGeom prst="rect">
            <a:avLst/>
          </a:prstGeom>
          <a:solidFill>
            <a:srgbClr val="81D41A"/>
          </a:solidFill>
          <a:ln w="12600">
            <a:solidFill>
              <a:srgbClr val="81D4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320" rIns="90000" bIns="-13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22" name="Text 16"/>
          <p:cNvSpPr/>
          <p:nvPr/>
        </p:nvSpPr>
        <p:spPr>
          <a:xfrm>
            <a:off x="1321560" y="3841560"/>
            <a:ext cx="1013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A9DAF"/>
                </a:solidFill>
                <a:effectLst/>
                <a:uFillTx/>
                <a:latin typeface="Calibri"/>
              </a:rPr>
              <a:t>42,380</a:t>
            </a:r>
            <a:endParaRPr lang="en-US" sz="1800" b="0" u="none" strike="noStrike">
              <a:solidFill>
                <a:srgbClr val="2A9DAF"/>
              </a:solidFill>
              <a:effectLst/>
              <a:uFillTx/>
              <a:latin typeface="DejaVu Sans"/>
            </a:endParaRPr>
          </a:p>
        </p:txBody>
      </p:sp>
      <p:sp>
        <p:nvSpPr>
          <p:cNvPr id="423" name="Text 17"/>
          <p:cNvSpPr/>
          <p:nvPr/>
        </p:nvSpPr>
        <p:spPr>
          <a:xfrm>
            <a:off x="1377720" y="4341600"/>
            <a:ext cx="9003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MINDER avg. top-5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n-gram freq. (MSMARCO)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24" name="Text 36"/>
          <p:cNvSpPr/>
          <p:nvPr/>
        </p:nvSpPr>
        <p:spPr>
          <a:xfrm>
            <a:off x="255960" y="4736520"/>
            <a:ext cx="8631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25" name="Shape 37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26" name="Text 38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27" name="Text 39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17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428" name=""/>
          <p:cNvPicPr/>
          <p:nvPr/>
        </p:nvPicPr>
        <p:blipFill>
          <a:blip r:embed="rId1"/>
          <a:stretch/>
        </p:blipFill>
        <p:spPr>
          <a:xfrm>
            <a:off x="3502800" y="1099080"/>
            <a:ext cx="5496480" cy="3529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30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RQ2 · Length Bias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31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Autoregressive probability penalises long, discriminative n-grams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32" name="Shape 3"/>
          <p:cNvSpPr/>
          <p:nvPr/>
        </p:nvSpPr>
        <p:spPr>
          <a:xfrm>
            <a:off x="255960" y="1115640"/>
            <a:ext cx="1027800" cy="1170000"/>
          </a:xfrm>
          <a:prstGeom prst="rect">
            <a:avLst/>
          </a:prstGeom>
          <a:solidFill>
            <a:srgbClr val="FFFFFF"/>
          </a:solidFill>
          <a:ln w="25560">
            <a:solidFill>
              <a:srgbClr val="1D7A8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33" name="Shape 4"/>
          <p:cNvSpPr/>
          <p:nvPr/>
        </p:nvSpPr>
        <p:spPr>
          <a:xfrm>
            <a:off x="255960" y="1115640"/>
            <a:ext cx="1027800" cy="54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34" name="Text 5"/>
          <p:cNvSpPr/>
          <p:nvPr/>
        </p:nvSpPr>
        <p:spPr>
          <a:xfrm>
            <a:off x="255960" y="1225440"/>
            <a:ext cx="10278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86.9%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35" name="Text 6"/>
          <p:cNvSpPr/>
          <p:nvPr/>
        </p:nvSpPr>
        <p:spPr>
          <a:xfrm>
            <a:off x="294840" y="1841400"/>
            <a:ext cx="9500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Unigram %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SEAL (NQ)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36" name="Shape 7"/>
          <p:cNvSpPr/>
          <p:nvPr/>
        </p:nvSpPr>
        <p:spPr>
          <a:xfrm>
            <a:off x="1419480" y="1115640"/>
            <a:ext cx="1028520" cy="1170000"/>
          </a:xfrm>
          <a:prstGeom prst="rect">
            <a:avLst/>
          </a:prstGeom>
          <a:solidFill>
            <a:srgbClr val="FFFFFF"/>
          </a:solidFill>
          <a:ln w="25560">
            <a:solidFill>
              <a:srgbClr val="1D7A8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37" name="Shape 8"/>
          <p:cNvSpPr/>
          <p:nvPr/>
        </p:nvSpPr>
        <p:spPr>
          <a:xfrm>
            <a:off x="1419480" y="1115640"/>
            <a:ext cx="1028520" cy="543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38" name="Text 9"/>
          <p:cNvSpPr/>
          <p:nvPr/>
        </p:nvSpPr>
        <p:spPr>
          <a:xfrm>
            <a:off x="1419480" y="1225440"/>
            <a:ext cx="10285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85.3%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39" name="Text 10"/>
          <p:cNvSpPr/>
          <p:nvPr/>
        </p:nvSpPr>
        <p:spPr>
          <a:xfrm>
            <a:off x="1458360" y="1841400"/>
            <a:ext cx="9504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Unigram %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MINDER (NQ)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40" name="Shape 11"/>
          <p:cNvSpPr/>
          <p:nvPr/>
        </p:nvSpPr>
        <p:spPr>
          <a:xfrm>
            <a:off x="2583720" y="1115640"/>
            <a:ext cx="1027800" cy="1170000"/>
          </a:xfrm>
          <a:prstGeom prst="rect">
            <a:avLst/>
          </a:prstGeom>
          <a:solidFill>
            <a:srgbClr val="FFFFFF"/>
          </a:solidFill>
          <a:ln w="25560">
            <a:solidFill>
              <a:srgbClr val="5A6E82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41" name="Shape 12"/>
          <p:cNvSpPr/>
          <p:nvPr/>
        </p:nvSpPr>
        <p:spPr>
          <a:xfrm>
            <a:off x="2583720" y="1115640"/>
            <a:ext cx="1027800" cy="54360"/>
          </a:xfrm>
          <a:prstGeom prst="rect">
            <a:avLst/>
          </a:prstGeom>
          <a:solidFill>
            <a:srgbClr val="5A6E82"/>
          </a:solidFill>
          <a:ln w="12600">
            <a:solidFill>
              <a:srgbClr val="5A6E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42" name="Text 13"/>
          <p:cNvSpPr/>
          <p:nvPr/>
        </p:nvSpPr>
        <p:spPr>
          <a:xfrm>
            <a:off x="2583720" y="1225440"/>
            <a:ext cx="10278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1.28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43" name="Text 14"/>
          <p:cNvSpPr/>
          <p:nvPr/>
        </p:nvSpPr>
        <p:spPr>
          <a:xfrm>
            <a:off x="2622600" y="1841400"/>
            <a:ext cx="9500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Avg. n-gram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6E82"/>
                </a:solidFill>
                <a:effectLst/>
                <a:uFillTx/>
                <a:latin typeface="Calibri"/>
              </a:rPr>
              <a:t>length (words) — SEAL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44" name="Shape 19"/>
          <p:cNvSpPr/>
          <p:nvPr/>
        </p:nvSpPr>
        <p:spPr>
          <a:xfrm>
            <a:off x="255960" y="2450520"/>
            <a:ext cx="3395520" cy="234036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45" name="Text 20"/>
          <p:cNvSpPr/>
          <p:nvPr/>
        </p:nvSpPr>
        <p:spPr>
          <a:xfrm>
            <a:off x="402480" y="25419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46" name="Text 21"/>
          <p:cNvSpPr/>
          <p:nvPr/>
        </p:nvSpPr>
        <p:spPr>
          <a:xfrm>
            <a:off x="331200" y="2871360"/>
            <a:ext cx="3129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Token probabilities are multiplicative. Each token added to a sequence reduces its total probability score.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The model therefore prefers short, generic n-grams like "War" over precise sequences like "The Napoleonic Wars", as they are statistically safer to generate.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This drowns out the most discriminative identifiers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47" name="Shape 37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48" name="Text 38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49" name="Text 39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18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450" name=""/>
          <p:cNvPicPr/>
          <p:nvPr/>
        </p:nvPicPr>
        <p:blipFill>
          <a:blip r:embed="rId1"/>
          <a:stretch/>
        </p:blipFill>
        <p:spPr>
          <a:xfrm>
            <a:off x="3778200" y="1107720"/>
            <a:ext cx="5167440" cy="366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52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RQ2 · Metadata Dependency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53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Both SEAL and MINDER over-rely on passage titles as retrieval shortcuts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54" name="Text 3"/>
          <p:cNvSpPr/>
          <p:nvPr/>
        </p:nvSpPr>
        <p:spPr>
          <a:xfrm>
            <a:off x="255960" y="111564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SEAL (NQ) — % of total score mass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55" name="Shape 4"/>
          <p:cNvSpPr/>
          <p:nvPr/>
        </p:nvSpPr>
        <p:spPr>
          <a:xfrm>
            <a:off x="255960" y="1408320"/>
            <a:ext cx="1639440" cy="475200"/>
          </a:xfrm>
          <a:prstGeom prst="rect">
            <a:avLst/>
          </a:prstGeom>
          <a:solidFill>
            <a:srgbClr val="1D7A8A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56" name="Text 5"/>
          <p:cNvSpPr/>
          <p:nvPr/>
        </p:nvSpPr>
        <p:spPr>
          <a:xfrm>
            <a:off x="301680" y="1536120"/>
            <a:ext cx="156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Titles 39.85%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57" name="Shape 6"/>
          <p:cNvSpPr/>
          <p:nvPr/>
        </p:nvSpPr>
        <p:spPr>
          <a:xfrm>
            <a:off x="1895760" y="1408320"/>
            <a:ext cx="2474640" cy="475200"/>
          </a:xfrm>
          <a:prstGeom prst="rect">
            <a:avLst/>
          </a:prstGeom>
          <a:solidFill>
            <a:srgbClr val="C8D8E4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58" name="Text 7"/>
          <p:cNvSpPr/>
          <p:nvPr/>
        </p:nvSpPr>
        <p:spPr>
          <a:xfrm>
            <a:off x="1941480" y="1536120"/>
            <a:ext cx="240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Body n-grams 60.15%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59" name="Text 8"/>
          <p:cNvSpPr/>
          <p:nvPr/>
        </p:nvSpPr>
        <p:spPr>
          <a:xfrm>
            <a:off x="4572000" y="111564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MINDER (NQ) — % of total score mass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60" name="Shape 9"/>
          <p:cNvSpPr/>
          <p:nvPr/>
        </p:nvSpPr>
        <p:spPr>
          <a:xfrm>
            <a:off x="4572000" y="1408320"/>
            <a:ext cx="1217520" cy="47520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61" name="Text 10"/>
          <p:cNvSpPr/>
          <p:nvPr/>
        </p:nvSpPr>
        <p:spPr>
          <a:xfrm>
            <a:off x="4617720" y="1536120"/>
            <a:ext cx="114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Titles 29.6%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62" name="Shape 11"/>
          <p:cNvSpPr/>
          <p:nvPr/>
        </p:nvSpPr>
        <p:spPr>
          <a:xfrm>
            <a:off x="5789880" y="1408320"/>
            <a:ext cx="808920" cy="475200"/>
          </a:xfrm>
          <a:prstGeom prst="rect">
            <a:avLst/>
          </a:prstGeom>
          <a:solidFill>
            <a:srgbClr val="729FCF"/>
          </a:solidFill>
          <a:ln w="12600">
            <a:solidFill>
              <a:srgbClr val="729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63" name="Text 12"/>
          <p:cNvSpPr/>
          <p:nvPr/>
        </p:nvSpPr>
        <p:spPr>
          <a:xfrm>
            <a:off x="5835600" y="1536120"/>
            <a:ext cx="735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Pseudoq. 19.67%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64" name="Shape 13"/>
          <p:cNvSpPr/>
          <p:nvPr/>
        </p:nvSpPr>
        <p:spPr>
          <a:xfrm>
            <a:off x="6599520" y="1408320"/>
            <a:ext cx="2086920" cy="475200"/>
          </a:xfrm>
          <a:prstGeom prst="rect">
            <a:avLst/>
          </a:prstGeom>
          <a:solidFill>
            <a:srgbClr val="C8D8E4"/>
          </a:solidFill>
          <a:ln w="12600">
            <a:solidFill>
              <a:srgbClr val="C8D8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65" name="Text 14"/>
          <p:cNvSpPr/>
          <p:nvPr/>
        </p:nvSpPr>
        <p:spPr>
          <a:xfrm>
            <a:off x="6645240" y="1536120"/>
            <a:ext cx="2013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Body 50.73%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66" name="Shape 15"/>
          <p:cNvSpPr/>
          <p:nvPr/>
        </p:nvSpPr>
        <p:spPr>
          <a:xfrm>
            <a:off x="255960" y="2030040"/>
            <a:ext cx="863172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67" name="Shape 16"/>
          <p:cNvSpPr/>
          <p:nvPr/>
        </p:nvSpPr>
        <p:spPr>
          <a:xfrm>
            <a:off x="255960" y="2030040"/>
            <a:ext cx="63720" cy="80424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68" name="Text 17"/>
          <p:cNvSpPr/>
          <p:nvPr/>
        </p:nvSpPr>
        <p:spPr>
          <a:xfrm>
            <a:off x="402480" y="209412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Title scoring advantage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69" name="Text 18"/>
          <p:cNvSpPr/>
          <p:nvPr/>
        </p:nvSpPr>
        <p:spPr>
          <a:xfrm>
            <a:off x="402480" y="237744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When answer appears as title n-gram vs. body n-gram: SEAL scores it 2,866% higher · MINDER: 2,499% higher → title acts as near-perfect signal when present.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70" name="Shape 19"/>
          <p:cNvSpPr/>
          <p:nvPr/>
        </p:nvSpPr>
        <p:spPr>
          <a:xfrm>
            <a:off x="255960" y="2962800"/>
            <a:ext cx="863172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71" name="Shape 20"/>
          <p:cNvSpPr/>
          <p:nvPr/>
        </p:nvSpPr>
        <p:spPr>
          <a:xfrm>
            <a:off x="255960" y="2962800"/>
            <a:ext cx="63720" cy="80424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72" name="Text 21"/>
          <p:cNvSpPr/>
          <p:nvPr/>
        </p:nvSpPr>
        <p:spPr>
          <a:xfrm>
            <a:off x="402480" y="302652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Successful retrievals rely less on titles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73" name="Text 22"/>
          <p:cNvSpPr/>
          <p:nvPr/>
        </p:nvSpPr>
        <p:spPr>
          <a:xfrm>
            <a:off x="402480" y="331020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For correctly retrieved passages, the advantage drops to 1,876% (SEAL) and 1,439% (MINDER) → success correlates with better use of body text.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74" name="Shape 23"/>
          <p:cNvSpPr/>
          <p:nvPr/>
        </p:nvSpPr>
        <p:spPr>
          <a:xfrm>
            <a:off x="255960" y="3895200"/>
            <a:ext cx="863172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75" name="Shape 24"/>
          <p:cNvSpPr/>
          <p:nvPr/>
        </p:nvSpPr>
        <p:spPr>
          <a:xfrm>
            <a:off x="255960" y="3895200"/>
            <a:ext cx="63720" cy="80424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76" name="Text 25"/>
          <p:cNvSpPr/>
          <p:nvPr/>
        </p:nvSpPr>
        <p:spPr>
          <a:xfrm>
            <a:off x="402480" y="395928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MSMARCO: performance collapse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77" name="Text 26"/>
          <p:cNvSpPr/>
          <p:nvPr/>
        </p:nvSpPr>
        <p:spPr>
          <a:xfrm>
            <a:off x="402480" y="424296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  <a:ea typeface="Noto Sans CJK SC"/>
              </a:rPr>
              <a:t>SEAL is 30.7% worse Recall@5 than BM25 on MSMARCO. MINDER only 3.1% better. Neither reached 30% 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  <a:ea typeface="Noto Sans CJK SC"/>
                <a:hlinkClick r:id="rId1"/>
              </a:rPr>
              <a:t>Recall@5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  <a:ea typeface="Noto Sans CJK SC"/>
              </a:rPr>
              <a:t>₁₅</a:t>
            </a: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→ metadata absence shows shortcut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78" name="Shape 27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79" name="Text 28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80" name="Text 29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19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82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RQ2 · Cultural Bias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83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Western-centric training data skews retrieval for non-Western queries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84" name="Shape 3"/>
          <p:cNvSpPr/>
          <p:nvPr/>
        </p:nvSpPr>
        <p:spPr>
          <a:xfrm>
            <a:off x="255960" y="1115640"/>
            <a:ext cx="8631720" cy="548280"/>
          </a:xfrm>
          <a:prstGeom prst="rect">
            <a:avLst/>
          </a:prstGeom>
          <a:solidFill>
            <a:srgbClr val="EEF6F8"/>
          </a:solidFill>
          <a:ln w="2556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85" name="Text 4"/>
          <p:cNvSpPr/>
          <p:nvPr/>
        </p:nvSpPr>
        <p:spPr>
          <a:xfrm>
            <a:off x="402480" y="111564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Query: "where did the southern song have their capital?"   →   Correct answer: Lin'an (Southern Song Dynasty, China, ~1127 AD)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86" name="Shape 5"/>
          <p:cNvSpPr/>
          <p:nvPr/>
        </p:nvSpPr>
        <p:spPr>
          <a:xfrm>
            <a:off x="255960" y="1774080"/>
            <a:ext cx="4224240" cy="2413800"/>
          </a:xfrm>
          <a:prstGeom prst="rect">
            <a:avLst/>
          </a:prstGeom>
          <a:solidFill>
            <a:srgbClr val="FFFFFF"/>
          </a:solidFill>
          <a:ln w="1908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87" name="Shape 6"/>
          <p:cNvSpPr/>
          <p:nvPr/>
        </p:nvSpPr>
        <p:spPr>
          <a:xfrm>
            <a:off x="255960" y="1774080"/>
            <a:ext cx="4224240" cy="34704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88" name="Text 7"/>
          <p:cNvSpPr/>
          <p:nvPr/>
        </p:nvSpPr>
        <p:spPr>
          <a:xfrm>
            <a:off x="347400" y="1774080"/>
            <a:ext cx="4041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89" name="Text 8"/>
          <p:cNvSpPr/>
          <p:nvPr/>
        </p:nvSpPr>
        <p:spPr>
          <a:xfrm>
            <a:off x="393120" y="2212920"/>
            <a:ext cx="4004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•  All top-100 results about the southern United States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90" name="Text 9"/>
          <p:cNvSpPr/>
          <p:nvPr/>
        </p:nvSpPr>
        <p:spPr>
          <a:xfrm>
            <a:off x="393120" y="2706480"/>
            <a:ext cx="4004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•  'southern' → US South · 'song' → country music / Dixie · 'capital' → Nashville / Richmond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91" name="Text 10"/>
          <p:cNvSpPr/>
          <p:nvPr/>
        </p:nvSpPr>
        <p:spPr>
          <a:xfrm>
            <a:off x="393120" y="3200400"/>
            <a:ext cx="4004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•  Song Dynasty passage not in top-100 at all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92" name="Text 11"/>
          <p:cNvSpPr/>
          <p:nvPr/>
        </p:nvSpPr>
        <p:spPr>
          <a:xfrm>
            <a:off x="393120" y="3694320"/>
            <a:ext cx="4004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•  BART trained overwhelmingly on English/Western data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93" name="Text 12"/>
          <p:cNvSpPr/>
          <p:nvPr/>
        </p:nvSpPr>
        <p:spPr>
          <a:xfrm>
            <a:off x="393120" y="4187880"/>
            <a:ext cx="4004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94" name="Shape 13"/>
          <p:cNvSpPr/>
          <p:nvPr/>
        </p:nvSpPr>
        <p:spPr>
          <a:xfrm>
            <a:off x="4681800" y="1774080"/>
            <a:ext cx="4224240" cy="2456280"/>
          </a:xfrm>
          <a:prstGeom prst="rect">
            <a:avLst/>
          </a:prstGeom>
          <a:solidFill>
            <a:srgbClr val="FFFFFF"/>
          </a:solidFill>
          <a:ln w="19080">
            <a:solidFill>
              <a:srgbClr val="1E8449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95" name="Shape 14"/>
          <p:cNvSpPr/>
          <p:nvPr/>
        </p:nvSpPr>
        <p:spPr>
          <a:xfrm>
            <a:off x="4681800" y="1774080"/>
            <a:ext cx="4224240" cy="347040"/>
          </a:xfrm>
          <a:prstGeom prst="rect">
            <a:avLst/>
          </a:prstGeom>
          <a:solidFill>
            <a:srgbClr val="1E8449"/>
          </a:solidFill>
          <a:ln w="126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96" name="Text 15"/>
          <p:cNvSpPr/>
          <p:nvPr/>
        </p:nvSpPr>
        <p:spPr>
          <a:xfrm>
            <a:off x="4773240" y="1774080"/>
            <a:ext cx="4041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MINDER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97" name="Text 16"/>
          <p:cNvSpPr/>
          <p:nvPr/>
        </p:nvSpPr>
        <p:spPr>
          <a:xfrm>
            <a:off x="4818960" y="2212920"/>
            <a:ext cx="4004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•  Ground truth appears at rank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98" name="Text 17"/>
          <p:cNvSpPr/>
          <p:nvPr/>
        </p:nvSpPr>
        <p:spPr>
          <a:xfrm>
            <a:off x="4818960" y="2706480"/>
            <a:ext cx="4004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•  All top-100 results relevant to Ancient China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99" name="Text 19"/>
          <p:cNvSpPr/>
          <p:nvPr/>
        </p:nvSpPr>
        <p:spPr>
          <a:xfrm>
            <a:off x="4818960" y="3190320"/>
            <a:ext cx="4004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•  Pseudoquery: "what was the capital of the song dynasty in north china"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00" name="Text 20"/>
          <p:cNvSpPr/>
          <p:nvPr/>
        </p:nvSpPr>
        <p:spPr>
          <a:xfrm>
            <a:off x="4818960" y="3647880"/>
            <a:ext cx="4004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•  Success is attributable to the pseudoquery identifier view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01" name="Text 21"/>
          <p:cNvSpPr/>
          <p:nvPr/>
        </p:nvSpPr>
        <p:spPr>
          <a:xfrm>
            <a:off x="255960" y="4736520"/>
            <a:ext cx="8631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1D7A8A"/>
                </a:solidFill>
                <a:effectLst/>
                <a:uFillTx/>
                <a:latin typeface="Calibri"/>
                <a:ea typeface="Noto Sans CJK SC"/>
              </a:rPr>
              <a:t>Pseudoquery view can partially compensate by generating contextually richer identifiers by counteracting </a:t>
            </a:r>
            <a:r>
              <a:rPr lang="en-US" sz="85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the base LM's pretraining data.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02" name="Shape 22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03" name="Text 23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04" name="Text 24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20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82160" y="4393080"/>
            <a:ext cx="8580600" cy="37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85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Another example: who was the last king of scotland based on (correct answer: Idi Amin, former Ugandan President. SEAL retrieved Scottish heads of state, MINDER succeeded)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07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RQ2 · Query–DocID Lexical Mismatch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08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Coverage C(Q, Gₙ): fraction of query tokens appearing in generated n-grams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D7A8A"/>
                </a:solidFill>
                <a:effectLst/>
                <a:uFillTx/>
                <a:latin typeface="Calibri"/>
              </a:rPr>
              <a:t>For each query, we took the highest-scored passage’s coverage query-docid coverage score, then stratified it into 5 buckets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09" name="Text 3"/>
          <p:cNvSpPr/>
          <p:nvPr/>
        </p:nvSpPr>
        <p:spPr>
          <a:xfrm>
            <a:off x="183960" y="1439640"/>
            <a:ext cx="253008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Spearman ρ: Coverage C(Q,Gₙ) vs. Hitrate  (all p &lt; 0.001)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10" name="Shape 4"/>
          <p:cNvSpPr/>
          <p:nvPr/>
        </p:nvSpPr>
        <p:spPr>
          <a:xfrm>
            <a:off x="651960" y="2020680"/>
            <a:ext cx="1609560" cy="804240"/>
          </a:xfrm>
          <a:prstGeom prst="rect">
            <a:avLst/>
          </a:prstGeom>
          <a:solidFill>
            <a:srgbClr val="FFFFFF"/>
          </a:solidFill>
          <a:ln w="19080">
            <a:solidFill>
              <a:srgbClr val="3465A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11" name="Text 5"/>
          <p:cNvSpPr/>
          <p:nvPr/>
        </p:nvSpPr>
        <p:spPr>
          <a:xfrm>
            <a:off x="743400" y="205740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SEAL (NQ)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12" name="Text 6"/>
          <p:cNvSpPr/>
          <p:nvPr/>
        </p:nvSpPr>
        <p:spPr>
          <a:xfrm>
            <a:off x="743400" y="233172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Hits@1: ρ = 0.323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13" name="Shape 7"/>
          <p:cNvSpPr/>
          <p:nvPr/>
        </p:nvSpPr>
        <p:spPr>
          <a:xfrm>
            <a:off x="651960" y="2932920"/>
            <a:ext cx="1601640" cy="804240"/>
          </a:xfrm>
          <a:prstGeom prst="rect">
            <a:avLst/>
          </a:prstGeom>
          <a:solidFill>
            <a:srgbClr val="FFFFFF"/>
          </a:solidFill>
          <a:ln w="19080">
            <a:solidFill>
              <a:srgbClr val="FFBF0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14" name="Text 8"/>
          <p:cNvSpPr/>
          <p:nvPr/>
        </p:nvSpPr>
        <p:spPr>
          <a:xfrm>
            <a:off x="743400" y="29696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MINDER (NQ)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15" name="Text 9"/>
          <p:cNvSpPr/>
          <p:nvPr/>
        </p:nvSpPr>
        <p:spPr>
          <a:xfrm>
            <a:off x="743400" y="324396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Hits@1: ρ = 0.380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16" name="Shape 10"/>
          <p:cNvSpPr/>
          <p:nvPr/>
        </p:nvSpPr>
        <p:spPr>
          <a:xfrm>
            <a:off x="651960" y="3845160"/>
            <a:ext cx="1601640" cy="804240"/>
          </a:xfrm>
          <a:prstGeom prst="rect">
            <a:avLst/>
          </a:prstGeom>
          <a:solidFill>
            <a:srgbClr val="FFFFFF"/>
          </a:solidFill>
          <a:ln w="19080">
            <a:solidFill>
              <a:srgbClr val="00A933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17" name="Text 11"/>
          <p:cNvSpPr/>
          <p:nvPr/>
        </p:nvSpPr>
        <p:spPr>
          <a:xfrm>
            <a:off x="743400" y="388188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MINDER (MSMARCO)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18" name="Text 12"/>
          <p:cNvSpPr/>
          <p:nvPr/>
        </p:nvSpPr>
        <p:spPr>
          <a:xfrm>
            <a:off x="743400" y="4156200"/>
            <a:ext cx="2559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Hits@1: ρ = 0.223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19" name="Shape 17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20" name="Text 18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21" name="Text 19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21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522" name=""/>
          <p:cNvPicPr/>
          <p:nvPr/>
        </p:nvPicPr>
        <p:blipFill>
          <a:blip r:embed="rId1"/>
          <a:stretch/>
        </p:blipFill>
        <p:spPr>
          <a:xfrm>
            <a:off x="3135600" y="1473120"/>
            <a:ext cx="5595840" cy="335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24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RQ2 · Concentration &amp; Token Diversity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25" name="Text 2"/>
          <p:cNvSpPr/>
          <p:nvPr/>
        </p:nvSpPr>
        <p:spPr>
          <a:xfrm>
            <a:off x="347400" y="7498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26" name="Shape 3"/>
          <p:cNvSpPr/>
          <p:nvPr/>
        </p:nvSpPr>
        <p:spPr>
          <a:xfrm>
            <a:off x="255960" y="928800"/>
            <a:ext cx="4205880" cy="382572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27" name="Text 5"/>
          <p:cNvSpPr/>
          <p:nvPr/>
        </p:nvSpPr>
        <p:spPr>
          <a:xfrm>
            <a:off x="402480" y="97272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Score Concentration (Single-DocID Overreliance)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28" name="Text 6"/>
          <p:cNvSpPr/>
          <p:nvPr/>
        </p:nvSpPr>
        <p:spPr>
          <a:xfrm>
            <a:off x="402480" y="383040"/>
            <a:ext cx="3968280" cy="31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Lower ratio (distributed evidence) → higher Hits@1.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When one wrong n-gram dominates, remaining low-scoring n-grams cannot always correct the ranking.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MINDER's lower ratio reflects multiview identifiers (titles + pseudoq. + n-grams) distributing score more evenly.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29" name="Shape 7"/>
          <p:cNvSpPr/>
          <p:nvPr/>
        </p:nvSpPr>
        <p:spPr>
          <a:xfrm>
            <a:off x="4681800" y="912960"/>
            <a:ext cx="4205880" cy="384156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30" name="Shape 8"/>
          <p:cNvSpPr/>
          <p:nvPr/>
        </p:nvSpPr>
        <p:spPr>
          <a:xfrm>
            <a:off x="4681800" y="912960"/>
            <a:ext cx="48960" cy="38415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31" name="Text 9"/>
          <p:cNvSpPr/>
          <p:nvPr/>
        </p:nvSpPr>
        <p:spPr>
          <a:xfrm>
            <a:off x="4827960" y="93672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Token Diversity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32" name="Text 10"/>
          <p:cNvSpPr/>
          <p:nvPr/>
        </p:nvSpPr>
        <p:spPr>
          <a:xfrm>
            <a:off x="4863960" y="167040"/>
            <a:ext cx="3968280" cy="31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Result: high overlap = signals model confidence = success.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High redundancy does not lead to lower success rates.</a:t>
            </a:r>
            <a:br>
              <a:rPr sz="950"/>
            </a:b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High diversity = loss of focus = failure.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33" name="Shape 11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34" name="Text 12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35" name="Text 13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22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319680" y="1156320"/>
            <a:ext cx="3968280" cy="471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Metric: top n-gram score ÷ sum of all n-gram scores.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4755960" y="1103040"/>
            <a:ext cx="3917880" cy="471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Metric: unique tokens ÷ total tokens across all generated n-grams.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538" name=""/>
          <p:cNvPicPr/>
          <p:nvPr/>
        </p:nvPicPr>
        <p:blipFill>
          <a:blip r:embed="rId1"/>
          <a:stretch/>
        </p:blipFill>
        <p:spPr>
          <a:xfrm>
            <a:off x="402480" y="2310120"/>
            <a:ext cx="4019040" cy="239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9" name=""/>
          <p:cNvPicPr/>
          <p:nvPr/>
        </p:nvPicPr>
        <p:blipFill>
          <a:blip r:embed="rId2"/>
          <a:stretch/>
        </p:blipFill>
        <p:spPr>
          <a:xfrm>
            <a:off x="4776840" y="2154960"/>
            <a:ext cx="4110840" cy="257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Shape 29"/>
          <p:cNvSpPr/>
          <p:nvPr/>
        </p:nvSpPr>
        <p:spPr>
          <a:xfrm>
            <a:off x="262440" y="928800"/>
            <a:ext cx="48960" cy="384156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0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42" name="Shape 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0F1D30"/>
          </a:solidFill>
          <a:ln w="12600">
            <a:solidFill>
              <a:srgbClr val="0F1D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43" name="Text 2"/>
          <p:cNvSpPr/>
          <p:nvPr/>
        </p:nvSpPr>
        <p:spPr>
          <a:xfrm>
            <a:off x="640080" y="45720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44" name="Text 3"/>
          <p:cNvSpPr/>
          <p:nvPr/>
        </p:nvSpPr>
        <p:spPr>
          <a:xfrm>
            <a:off x="640080" y="1005840"/>
            <a:ext cx="7772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Discussion &amp; Conclusions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45" name="Text 4"/>
          <p:cNvSpPr/>
          <p:nvPr/>
        </p:nvSpPr>
        <p:spPr>
          <a:xfrm>
            <a:off x="640080" y="274320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8CB0C5"/>
                </a:solidFill>
                <a:effectLst/>
                <a:uFillTx/>
                <a:latin typeface="Calibri"/>
              </a:rPr>
              <a:t>Root causes, limitations, and future directions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47" name="Text 1"/>
          <p:cNvSpPr/>
          <p:nvPr/>
        </p:nvSpPr>
        <p:spPr>
          <a:xfrm>
            <a:off x="347400" y="0"/>
            <a:ext cx="80463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Limitations &amp; Future Work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48" name="Shape 2"/>
          <p:cNvSpPr/>
          <p:nvPr/>
        </p:nvSpPr>
        <p:spPr>
          <a:xfrm>
            <a:off x="255960" y="1115640"/>
            <a:ext cx="4205880" cy="191988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49" name="Shape 3"/>
          <p:cNvSpPr/>
          <p:nvPr/>
        </p:nvSpPr>
        <p:spPr>
          <a:xfrm>
            <a:off x="255960" y="1115640"/>
            <a:ext cx="63720" cy="191988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50" name="Text 4"/>
          <p:cNvSpPr/>
          <p:nvPr/>
        </p:nvSpPr>
        <p:spPr>
          <a:xfrm>
            <a:off x="402480" y="118872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Limitations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51" name="Text 5"/>
          <p:cNvSpPr/>
          <p:nvPr/>
        </p:nvSpPr>
        <p:spPr>
          <a:xfrm>
            <a:off x="402480" y="1463040"/>
            <a:ext cx="3968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Empirical analysis limited to SEAL &amp; MINDER on NQ / MSMARCO open-domain QA.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No experiments on other KILT tasks (dialogue generation, fact verification, slot filling, entity linking).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Several GR models analyzed qualitatively only → these require dedicated studies.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52" name="Shape 6"/>
          <p:cNvSpPr/>
          <p:nvPr/>
        </p:nvSpPr>
        <p:spPr>
          <a:xfrm>
            <a:off x="4681800" y="1115640"/>
            <a:ext cx="4205880" cy="191988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53" name="Shape 7"/>
          <p:cNvSpPr/>
          <p:nvPr/>
        </p:nvSpPr>
        <p:spPr>
          <a:xfrm>
            <a:off x="4681800" y="1115640"/>
            <a:ext cx="63720" cy="1919880"/>
          </a:xfrm>
          <a:prstGeom prst="rect">
            <a:avLst/>
          </a:prstGeom>
          <a:solidFill>
            <a:srgbClr val="B4C7DC"/>
          </a:solidFill>
          <a:ln w="12600">
            <a:solidFill>
              <a:srgbClr val="B4C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54" name="Text 8"/>
          <p:cNvSpPr/>
          <p:nvPr/>
        </p:nvSpPr>
        <p:spPr>
          <a:xfrm>
            <a:off x="4827960" y="118872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Future Work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55" name="Text 9"/>
          <p:cNvSpPr/>
          <p:nvPr/>
        </p:nvSpPr>
        <p:spPr>
          <a:xfrm>
            <a:off x="4827960" y="1463040"/>
            <a:ext cx="3968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Multilingual GR: non-English corpora exhibit unique tokenization &amp; cultural bias failure profiles.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Continual learning solutions: dynamic corpora remain an unsolved challenge with massive practical upside.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Alternative architectures: RetNet / Mamba could address latency &amp; scalability without Transformer overhead.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56" name="Shape 10"/>
          <p:cNvSpPr/>
          <p:nvPr/>
        </p:nvSpPr>
        <p:spPr>
          <a:xfrm>
            <a:off x="255960" y="3200400"/>
            <a:ext cx="4205880" cy="1627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57" name="Shape 11"/>
          <p:cNvSpPr/>
          <p:nvPr/>
        </p:nvSpPr>
        <p:spPr>
          <a:xfrm>
            <a:off x="255960" y="3200400"/>
            <a:ext cx="63720" cy="1627200"/>
          </a:xfrm>
          <a:prstGeom prst="rect">
            <a:avLst/>
          </a:prstGeom>
          <a:solidFill>
            <a:srgbClr val="B4C7DC"/>
          </a:solidFill>
          <a:ln w="12600">
            <a:solidFill>
              <a:srgbClr val="B4C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58" name="Text 12"/>
          <p:cNvSpPr/>
          <p:nvPr/>
        </p:nvSpPr>
        <p:spPr>
          <a:xfrm>
            <a:off x="402480" y="327348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Future Work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59" name="Text 13"/>
          <p:cNvSpPr/>
          <p:nvPr/>
        </p:nvSpPr>
        <p:spPr>
          <a:xfrm>
            <a:off x="402480" y="3547800"/>
            <a:ext cx="396828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Task-specific failure analysis for code retrieval, entity linking, multi-hop QA.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Comprehensive response generation failure taxonomy.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Multimodal GR failure modes (audiovisual retrieval models exhibit unique failure patterns).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60" name="Shape 14"/>
          <p:cNvSpPr/>
          <p:nvPr/>
        </p:nvSpPr>
        <p:spPr>
          <a:xfrm>
            <a:off x="4681800" y="3200400"/>
            <a:ext cx="4205880" cy="1627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8E4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61" name="Shape 15"/>
          <p:cNvSpPr/>
          <p:nvPr/>
        </p:nvSpPr>
        <p:spPr>
          <a:xfrm>
            <a:off x="4681800" y="3200400"/>
            <a:ext cx="63720" cy="1627200"/>
          </a:xfrm>
          <a:prstGeom prst="rect">
            <a:avLst/>
          </a:prstGeom>
          <a:solidFill>
            <a:srgbClr val="B4C7DC"/>
          </a:solidFill>
          <a:ln w="12600">
            <a:solidFill>
              <a:srgbClr val="B4C7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62" name="Text 16"/>
          <p:cNvSpPr/>
          <p:nvPr/>
        </p:nvSpPr>
        <p:spPr>
          <a:xfrm>
            <a:off x="4827960" y="327348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B4A"/>
                </a:solidFill>
                <a:effectLst/>
                <a:uFillTx/>
                <a:latin typeface="Calibri"/>
              </a:rPr>
              <a:t>Future Work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63" name="Text 17"/>
          <p:cNvSpPr/>
          <p:nvPr/>
        </p:nvSpPr>
        <p:spPr>
          <a:xfrm>
            <a:off x="4827960" y="3547800"/>
            <a:ext cx="396828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Skip-gram based DocIDs: relaxes contiguity constraint for storage tradeoff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Permutation-invariant decoding: reduces false pruning sensitivity.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D3D"/>
                </a:solidFill>
                <a:effectLst/>
                <a:uFillTx/>
                <a:latin typeface="Calibri"/>
              </a:rPr>
              <a:t>Non-differentiability: Straight-Through Estimator enables end-to-end gradient flow.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64" name="Shape 18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A2B4A"/>
          </a:solidFill>
          <a:ln w="126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65" name="Text 19"/>
          <p:cNvSpPr/>
          <p:nvPr/>
        </p:nvSpPr>
        <p:spPr>
          <a:xfrm>
            <a:off x="274320" y="4937760"/>
            <a:ext cx="8046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Taxonomy and Analysis of Failure Modes in N-gram Based Generative Retrieval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66" name="Text 20"/>
          <p:cNvSpPr/>
          <p:nvPr/>
        </p:nvSpPr>
        <p:spPr>
          <a:xfrm>
            <a:off x="8686800" y="4937760"/>
            <a:ext cx="365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FCF"/>
                </a:solidFill>
                <a:effectLst/>
                <a:uFillTx/>
                <a:latin typeface="Calibri"/>
              </a:rPr>
              <a:t>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0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68" name="Shape 1"/>
          <p:cNvSpPr/>
          <p:nvPr/>
        </p:nvSpPr>
        <p:spPr>
          <a:xfrm>
            <a:off x="0" y="4572000"/>
            <a:ext cx="9143640" cy="571320"/>
          </a:xfrm>
          <a:prstGeom prst="rect">
            <a:avLst/>
          </a:prstGeom>
          <a:solidFill>
            <a:srgbClr val="0F1D30"/>
          </a:solidFill>
          <a:ln w="12600">
            <a:solidFill>
              <a:srgbClr val="0F1D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69" name="Text 2"/>
          <p:cNvSpPr/>
          <p:nvPr/>
        </p:nvSpPr>
        <p:spPr>
          <a:xfrm>
            <a:off x="658440" y="27432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70" name="Shape 3"/>
          <p:cNvSpPr/>
          <p:nvPr/>
        </p:nvSpPr>
        <p:spPr>
          <a:xfrm>
            <a:off x="621720" y="913320"/>
            <a:ext cx="8229240" cy="585000"/>
          </a:xfrm>
          <a:prstGeom prst="rect">
            <a:avLst/>
          </a:prstGeom>
          <a:solidFill>
            <a:srgbClr val="0D1F35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71" name="Shape 4"/>
          <p:cNvSpPr/>
          <p:nvPr/>
        </p:nvSpPr>
        <p:spPr>
          <a:xfrm>
            <a:off x="621720" y="913320"/>
            <a:ext cx="511560" cy="58500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72" name="Text 5"/>
          <p:cNvSpPr/>
          <p:nvPr/>
        </p:nvSpPr>
        <p:spPr>
          <a:xfrm>
            <a:off x="621720" y="913320"/>
            <a:ext cx="5115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F1D30"/>
                </a:solidFill>
                <a:effectLst/>
                <a:uFillTx/>
                <a:latin typeface="Calibri"/>
              </a:rPr>
              <a:t>RQ1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73" name="Text 6"/>
          <p:cNvSpPr/>
          <p:nvPr/>
        </p:nvSpPr>
        <p:spPr>
          <a:xfrm>
            <a:off x="1188720" y="1004760"/>
            <a:ext cx="7570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taxonomy of GR failure modes across Representation, Training, Inference, and Response  stages was developed from the literature.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74" name="Shape 7"/>
          <p:cNvSpPr/>
          <p:nvPr/>
        </p:nvSpPr>
        <p:spPr>
          <a:xfrm>
            <a:off x="621720" y="1589760"/>
            <a:ext cx="8229240" cy="585000"/>
          </a:xfrm>
          <a:prstGeom prst="rect">
            <a:avLst/>
          </a:prstGeom>
          <a:solidFill>
            <a:srgbClr val="0D1F35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75" name="Shape 8"/>
          <p:cNvSpPr/>
          <p:nvPr/>
        </p:nvSpPr>
        <p:spPr>
          <a:xfrm>
            <a:off x="621720" y="1589760"/>
            <a:ext cx="511560" cy="58500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76" name="Text 9"/>
          <p:cNvSpPr/>
          <p:nvPr/>
        </p:nvSpPr>
        <p:spPr>
          <a:xfrm>
            <a:off x="621720" y="1589760"/>
            <a:ext cx="5115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F1D30"/>
                </a:solidFill>
                <a:effectLst/>
                <a:uFillTx/>
                <a:latin typeface="Calibri"/>
              </a:rPr>
              <a:t>RQ2·1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77" name="Text 10"/>
          <p:cNvSpPr/>
          <p:nvPr/>
        </p:nvSpPr>
        <p:spPr>
          <a:xfrm>
            <a:off x="1188720" y="1681200"/>
            <a:ext cx="7570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N-gram GR models know the semantic neighbourhood of the answer → the dominant failure is discriminative ranking.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78" name="Text 13"/>
          <p:cNvSpPr/>
          <p:nvPr/>
        </p:nvSpPr>
        <p:spPr>
          <a:xfrm>
            <a:off x="621720" y="2266560"/>
            <a:ext cx="5115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F1D30"/>
                </a:solidFill>
                <a:effectLst/>
                <a:uFillTx/>
                <a:latin typeface="Calibri"/>
              </a:rPr>
              <a:t>RQ2·2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79" name="Shape 15"/>
          <p:cNvSpPr/>
          <p:nvPr/>
        </p:nvSpPr>
        <p:spPr>
          <a:xfrm>
            <a:off x="621720" y="2266560"/>
            <a:ext cx="8229240" cy="585000"/>
          </a:xfrm>
          <a:prstGeom prst="rect">
            <a:avLst/>
          </a:prstGeom>
          <a:solidFill>
            <a:srgbClr val="0D1F35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80" name="Shape 16"/>
          <p:cNvSpPr/>
          <p:nvPr/>
        </p:nvSpPr>
        <p:spPr>
          <a:xfrm>
            <a:off x="621720" y="2266560"/>
            <a:ext cx="511560" cy="58500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81" name="Text 17"/>
          <p:cNvSpPr/>
          <p:nvPr/>
        </p:nvSpPr>
        <p:spPr>
          <a:xfrm>
            <a:off x="621720" y="2266560"/>
            <a:ext cx="5115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F1D30"/>
                </a:solidFill>
                <a:effectLst/>
                <a:uFillTx/>
                <a:latin typeface="Calibri"/>
              </a:rPr>
              <a:t>RQ2·2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82" name="Text 18"/>
          <p:cNvSpPr/>
          <p:nvPr/>
        </p:nvSpPr>
        <p:spPr>
          <a:xfrm>
            <a:off x="1188720" y="2358000"/>
            <a:ext cx="7570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Metadata dependency is a structural training bias: both SEAL and MINDER overweigh titles → a feature on NQ, a failure on MSMARCO.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83" name="Shape 19"/>
          <p:cNvSpPr/>
          <p:nvPr/>
        </p:nvSpPr>
        <p:spPr>
          <a:xfrm>
            <a:off x="621720" y="2943000"/>
            <a:ext cx="8229240" cy="585000"/>
          </a:xfrm>
          <a:prstGeom prst="rect">
            <a:avLst/>
          </a:prstGeom>
          <a:solidFill>
            <a:srgbClr val="0D1F35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84" name="Shape 20"/>
          <p:cNvSpPr/>
          <p:nvPr/>
        </p:nvSpPr>
        <p:spPr>
          <a:xfrm>
            <a:off x="621720" y="2943000"/>
            <a:ext cx="511560" cy="58500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85" name="Text 21"/>
          <p:cNvSpPr/>
          <p:nvPr/>
        </p:nvSpPr>
        <p:spPr>
          <a:xfrm>
            <a:off x="621720" y="2943000"/>
            <a:ext cx="5115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F1D30"/>
                </a:solidFill>
                <a:effectLst/>
                <a:uFillTx/>
                <a:latin typeface="Calibri"/>
              </a:rPr>
              <a:t>RQ2·4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86" name="Text 22"/>
          <p:cNvSpPr/>
          <p:nvPr/>
        </p:nvSpPr>
        <p:spPr>
          <a:xfrm>
            <a:off x="1188720" y="3034440"/>
            <a:ext cx="7570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MINDER's pseudoquery identifiers help disambiguation and evening out the score distribution, but cannot fully compensate for absent metadata.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87" name="Shape 23"/>
          <p:cNvSpPr/>
          <p:nvPr/>
        </p:nvSpPr>
        <p:spPr>
          <a:xfrm>
            <a:off x="621720" y="3619800"/>
            <a:ext cx="8229240" cy="585000"/>
          </a:xfrm>
          <a:prstGeom prst="rect">
            <a:avLst/>
          </a:prstGeom>
          <a:solidFill>
            <a:srgbClr val="0D1F35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88" name="Shape 24"/>
          <p:cNvSpPr/>
          <p:nvPr/>
        </p:nvSpPr>
        <p:spPr>
          <a:xfrm>
            <a:off x="621720" y="3619800"/>
            <a:ext cx="511560" cy="585000"/>
          </a:xfrm>
          <a:prstGeom prst="rect">
            <a:avLst/>
          </a:prstGeom>
          <a:solidFill>
            <a:srgbClr val="1D7A8A"/>
          </a:solidFill>
          <a:ln w="12600">
            <a:solidFill>
              <a:srgbClr val="1D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89" name="Text 25"/>
          <p:cNvSpPr/>
          <p:nvPr/>
        </p:nvSpPr>
        <p:spPr>
          <a:xfrm>
            <a:off x="621720" y="3619800"/>
            <a:ext cx="5115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F1D30"/>
                </a:solidFill>
                <a:effectLst/>
                <a:uFillTx/>
                <a:latin typeface="Calibri"/>
              </a:rPr>
              <a:t>Overall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90" name="Text 26"/>
          <p:cNvSpPr/>
          <p:nvPr/>
        </p:nvSpPr>
        <p:spPr>
          <a:xfrm>
            <a:off x="1188720" y="3711240"/>
            <a:ext cx="7570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 promises an elegant architecture, but remains brittle. Solutions to many of its failure modes are not fully achieved. It is promising but not production-ready as of now.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91" name="Text 27"/>
          <p:cNvSpPr/>
          <p:nvPr/>
        </p:nvSpPr>
        <p:spPr>
          <a:xfrm>
            <a:off x="658440" y="4626720"/>
            <a:ext cx="3657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A8BA4"/>
                </a:solidFill>
                <a:effectLst/>
                <a:uFillTx/>
                <a:latin typeface="Calibri"/>
              </a:rPr>
              <a:t>Thank you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"/>
          <p:cNvSpPr txBox="1"/>
          <p:nvPr/>
        </p:nvSpPr>
        <p:spPr>
          <a:xfrm>
            <a:off x="5543280" y="4887720"/>
            <a:ext cx="7224480" cy="538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Analysis code available on: </a:t>
            </a:r>
            <a:r>
              <a:rPr lang="en-US" sz="800" b="1" u="none" strike="noStrike">
                <a:solidFill>
                  <a:srgbClr val="000000"/>
                </a:solidFill>
                <a:effectLst/>
                <a:uFillTx/>
                <a:latin typeface="Calibri"/>
                <a:hlinkClick r:id="rId1"/>
              </a:rPr>
              <a:t>https://github.com/richietk/thesis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68040" y="0"/>
            <a:ext cx="9139680" cy="4842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7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References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endParaRPr lang="en-US" sz="3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[1]: Zhang, F., Liu, X., Jia, X., Zhang, Y., Zhang, S., Li, X., … Zhang, Z. (2025, July). Multi-level Relevance Document Identifier Learning for Generative Retrieval. In W. Che, J. Nabende, E. Shutova, &amp; M. T. Pilehvar (Eds), Proceedings of the 63rd Annual Meeting of the Association for Computational Linguistics (Volume 1: Long Papers) (pp. 10066–10080). doi:10.18653/v1/2025.acl-long.497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[2]: Cheng, J., Dou, Z., Zhu, Y., &amp; Li, X. (2025). Descriptive and Discriminative Document Identifiers for Generative Retrieval. Proceedings of the AAAI Conference on Artificial Intelligence, 39(11), 11518–11526. doi:10.1609/aaai.v39i11.33253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[3]: Sun, W., Yan, L., Chen, Z., Wang, S., Zhu, H., Ren, P., … Ren, Z. (2023). Learning to Tokenize for Generative Retrieval. arXiv [Cs.IR]. Retrieved from http://arxiv.org/abs/2304.04171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[4]: Li, X., Jin, J., Zhou, Y., Zhang, Y., Zhang, P., Zhu, Y., &amp; Dou, Z. (2025). From Matching to Generation: A Survey on Generative Information Retrieval. arXiv [Cs.IR]. Retrieved from http://arxiv.org/abs/2404.14851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[5]: Chen, J., Zhang, R., Guo, J., de Rijke, M., Chen, W., Fan, Y., &amp; Cheng, X. (2023). Continual Learning for Generative Retrieval over Dynamic Corpora. Proceedings of the 32nd ACM International Conference on Information and Knowledge Management, 306–315. Presented at the Birmingham, United Kingdom. doi:10.1145/3583780.3614821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[6]: Mehta, S. V., Gupta, J., Tay, Y., Dehghani, M., Tran, V. Q., Rao, J., … Metzler, D. (2023). DSI++: Updating Transformer Memory with New Documents. arXiv [Cs.CL]. Retrieved from http://arxiv.org/abs/2212.09744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[7]: Kuo, T.-L., Chiu, T.-W., Lin, T.-S., Wu, S.-Y., Huang, C.-W., &amp; Chen, Y.-N. (2024). A Survey of Generative Information Retrieval. arXiv [Cs.IR]. Retrieved from http://arxiv.org/abs/2406.01197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[8]: Zhang, P., Liu, Z., Zhou, Y., Dou, Z., Liu, F., &amp; Cao, Z. (2024). Generative Retrieval via Term Set Generation. arXiv [Cs.IR]. Retrieved from http://arxiv.org/abs/2305.13859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[9]: Zeng, H., Luo, C., &amp; Zamani, H. (2024). Planning Ahead in Generative Retrieval: Guiding Autoregressive Generation through Simultaneous Decoding. arXiv [Cs.IR]. Retrieved from http://arxiv.org/abs/2404.14600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[10]: Huang, L., Yu, W., Ma, W., Zhong, W., Feng, Z., Wang, H., … Liu, T. (2025). A Survey on Hallucination in Large Language Models: Principles, Taxonomy, Challenges, and Open Questions. ACM Transactions on Information Systems, 43(2), 1–55. doi:10.1145/3703155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[11]: Ji, Z., Lee, N., Frieske, R., Yu, T., Su, D., Xu, Y., … Fung, P. (2023). Survey of Hallucination in Natural Language Generation. ACM Computing Surveys, 55(12), 1–38. doi:10.1145/3571730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[12]: Yuan, P., Wang, X., Feng, S., Pan, B., Li, Y., Wang, H., … Li, K. (2024). Generative Dense Retrieval: Memory Can Be a Burden. arXiv [Cs.IR]. Retrieved from http://arxiv.org/abs/2401.10487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[13]: Agrawal, G., Kumarage, T., Alghamdi, Z., &amp; Liu, H. (2024). Mindful-RAG: A Study of Points of Failure in Retrieval Augmented Generation. arXiv [Cs.IR]. Retrieved from http://arxiv.org/abs/2407.12216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[14]: Bevilacqua, M., Ottaviano, G., Lewis, P., Yih, S., Riedel, S., &amp; Petroni, F. (2022). Autoregressive Search Engines: Generating Substrings as Document Identifiers. In A. H. Oh, A. Agarwal, D. Belgrave, &amp; K. Cho (Eds), Advances in Neural Information Processing Systems. Retrieved from https://openreview.net/forum?id=Z4kZxAjg8Y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[15]: Li, Y., Yang, N., Wang, L., Wei, F., &amp; Li, W. (2023b). Multiview Identifiers Enhanced Generative Retrieval. arXiv [Cs.CL]. Retrieved from http://arxiv.org/abs/2305.16675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[16]: Barnett, S., Kurniawan, S., Thudumu, S., Brannelly, Z., &amp; Abdelrazek, M. (2024). Seven Failure Points When Engineering a Retrieval Augmented Generation System. arXiv [Cs.SE]. Retrieved from http://arxiv.org/abs/2401.05856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[17]: Cao, N. D., Izacard, G., Riedel, S., &amp; Petroni, F. (2021). Autoregressive Entity Retrieval. arXiv [Cs.CL]. Retrieved from http://arxiv.org/abs/2010.00904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[18]: Yang, T., Song, M., Zhang, Z., Huang, H., Deng, W., Sun, F., &amp; Zhang, Q. (2023). Auto Search Indexer for End-to-End Document Retrieval. arXiv [Cs.IR]. Retrieved from http://arxiv.org/abs/2310.12455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[19]: Liu, Y.-A., Zhang, R., Guo, J., Zhou, C., de Rijke, M., &amp; Cheng, X. (2024). On the Robustness of Generative Information Retrieval Models. arXiv [Cs.IR]. Retrieved from http://arxiv.org/abs/2412.18768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[20]: Naous, T., Ryan, M. J., Ritter, A., &amp; Xu, W. (2024). Having Beer after Prayer? Measuring Cultural Bias in Large Language Models. arXiv [Cs.CL]. Retrieved from http://arxiv.org/abs/2305.14456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[21]: Aowal, M. A., Islam, M. T., Mammen, P. M., &amp; Shetty, S. (2023). Detecting Natural Language Biases with Prompt-based Learning. arXiv [Cs.CL]. Retrieved from http://arxiv.org/abs/2309.05227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[22]: Navigli, R., Conia, S., &amp; Ross, B. (2023). Biases in Large Language Models: Origins, Inventory, and Discussion. J. Data and Information Quality, 15(2). doi:10.1145/3597307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[23]: Gallegos, I. O., Rossi, R. A., Barrow, J., Tanjim, M. M., Kim, S., Dernoncourt, F., … Ahmed, N. K. (2024). Bias and Fairness in Large Language Models: A Survey. Computational Linguistics, 50(3), 1097–1179. doi:10.1162/coli_a_00524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[24]: Zhang, Z., Ma, X., Sun, W., Ren, P., Chen, Z., Wang, S., … Ren, Z. (2025). Replication and Exploration of Generative Retrieval over Dynamic Corpora. arXiv [Cs.IR]. Retrieved from http://arxiv.org/abs/2504.17519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[25]: Li, Y., Zhang, Z., Wang, W., Nie, L., Li, W., &amp; Chua, T.-S. (2024, August). Distillation Enhanced Generative Retrieval. In L.-W. Ku, A. Martins, &amp; V. Srikumar (Eds), Findings of the Association for Computational Linguistics: ACL 2024 (pp. 11119–11129). doi:10.18653/v1/2024.findings-acl.662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[26]: Li, Y., Yang, N., Wang, L., Wei, F., &amp; Li, W. (2023a). Learning to Rank in Generative Retrieval. arXiv [Cs.CL]. Retrieved from http://arxiv.org/abs/2306.15222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[27]: Pradeep, R., Hui, K., Gupta, J., Lelkes, A. D., Zhuang, H., Lin, J., … Tran, V. Q. (2023). How Does Generative Retrieval Scale to Millions of Passages? arXiv [Cs.IR]. Retrieved from http://arxiv.org/abs/2305.11841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[28]: Niu, C., Wu, Y., Zhu, J., Xu, S., Shum, K., Zhong, R., … Zhang, T. (2024, August). RAGTruth: A Hallucination Corpus for Developing Trustworthy Retrieval-Augmented Language Models. In L.-W. Ku, A. Martins, &amp; V. Srikumar (Eds), Proceedings of the 62nd Annual Meeting of the Association for Computational Linguistics (Volume 1: Long Papers) (pp. 10862–10878). doi:10.18653/v1/2024.acl-long.585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[29]: Herold, C., Kozielski, M., Santavas, N., Versley, Y., &amp; Khadivi, S. (2025). Vocabulary Customization for Efficient Domain-Specific LLM Deployment. arXiv [Cs.CL]. Retrieved from http://arxiv.org/abs/2509.26124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Application>LibreOffice/26.2.1.2$Linux_X86_64 LibreOffice_project/620$Build-2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2026-03-08T11:40:36Z</dcterms:created>
  <dc:creator>PptxGenJS</dc:creator>
  <dc:description/>
  <dc:language>en-US</dc:language>
  <cp:lastModifiedBy/>
  <cp:lastPrinted>2026-03-17T10:03:17Z</cp:lastPrinted>
  <dcterms:modified xsi:type="dcterms:W3CDTF">2026-03-17T10:02:39Z</dcterms:modified>
  <cp:revision>11</cp:revision>
  <dc:subject>PptxGenJS Presentation</dc:subject>
  <dc:title>Taxonomy and Analysis of Failure Modes in N-gram Based Generative Retrieval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27</vt:r8>
  </property>
  <property fmtid="{D5CDD505-2E9C-101B-9397-08002B2CF9AE}" pid="3" name="PresentationFormat">
    <vt:lpwstr>On-screen Show (16:9)</vt:lpwstr>
  </property>
  <property fmtid="{D5CDD505-2E9C-101B-9397-08002B2CF9AE}" pid="4" name="Slides">
    <vt:r8>27</vt:r8>
  </property>
</Properties>
</file>